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85227ef-2e0e-9321-e823-31ea26dc912a}">
          <p14:sldIdLst>
            <p14:sldId id="256"/>
          </p14:sldIdLst>
        </p14:section>
        <p14:section name="Problem and design" id="{5afabd52-5fe4-9876-6013-192ac3e3fb20}">
          <p14:sldIdLst>
            <p14:sldId id="257"/>
            <p14:sldId id="258"/>
            <p14:sldId id="259"/>
          </p14:sldIdLst>
        </p14:section>
        <p14:section name="Synapt" id="{6fc92f44-707d-25f5-4859-616f958e7e44}">
          <p14:sldIdLst>
            <p14:sldId id="260"/>
          </p14:sldIdLst>
        </p14:section>
        <p14:section name="Demo and evidence" id="{cb6ec3a7-3b03-d0dc-4a50-82bd4603afc7}">
          <p14:sldIdLst>
            <p14:sldId id="261"/>
            <p14:sldId id="262"/>
            <p14:sldId id="263"/>
          </p14:sldIdLst>
        </p14:section>
        <p14:section name="Close" id="{6bfa9303-0eb3-150a-646f-74c4cdf3febe}">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Claims teams review historical claims by hand. This assistant finds comparable claims among 100 million, brings in Synapt's procedures, estimates three things, and writes a cited brief that a person reviews. It never approves, denies or pays a claim. Everything I show today ran live on the real dataset and the real Synapt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These are the three questions in the brief. Each maps to a capability, and I will show all three working. The sentence at the bottom is a design rule enforced in code: a validator blocks any recommendation that approves, denies, pays, or calls something proven fraud.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A handler uses the React UI served by one FastAPI service. A LangGraph workflow runs eight stages and pauses for a person. Three stores each do what they can: the Parquet file is the authority for the 100 million claims, Synapt holds knowledge, SQLite holds runs and audit. Synapt holds procedures as documents, from which it builds the knowledge graph, and a sample of settled claims in its ticket store; the 100 million claims stay in Parquet. Models write the brief; a second, different model judges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Search never loads the file into memory. DuckDB scans it and only a few hundred candidates reach Python. Two rules matter: a comparable claim must have been settled before the new claim was filed, and the pending rows store their duration as NaN, not null, which the SQL handles. During live testing I found the keyword leg ranked Synapt's odd outliers above exact matches, because IDF rewards rare terms. I removed IDF and added a regression test that fails on the old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Synapt has two stores for two kinds of content. Documents are for knowledge: the seventeen procedures, from which Synapt builds the graph of procedures and ordered steps that every brief cites. Settled claims are cases with outcomes, which is what the ticket store is for. I first put ten thousand claim rows into the documents as text cards. The review said that split was wrong, and the graph shows why: the cards were 99.6 percent of the chunks but gave 55 graph links, against 135 from seventeen procedures. So I uploaded two thousand settled claims through the Ticketing source, checked that the procedures and graph were untouched, and deleted the cards. Now the passage retriever sends the claim as one ticket, ticket-only mode, no model call, and the closest past claims are looked up in Parquet under the handler's filters. I measured the ticket labels against the majority class and they add nothing, so the app does not show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 Switch to the running app. Submit the Auto theft example. It returns in about fifteen seconds. Point at: the police-report gap cited to a Synapt procedure; the priority score where every point is attributed; and the independent review, which arrives afterwards because it runs in the background. Then accept the brief, rate it, promote the lesson as the administrator, and run the claim again to show the lesson cited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Models are trained on a repeatable 200,000-row sample of the 100 million, split by filing date so the test period is strictly later. The 3,000-row slice I started with made the fraud model weak; the larger sample made it useful. The explanations are the part to emphasise: global direction of effect, in plain language, and for each claim what moved its estimate. All associations, none causal.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Three kinds of assurance. Evaluated: golden cases and DeepEval, plus a second model judging every live brief. Guarded: strict input checks, mandatory citations, and a validator that caught the model writing that a document had been provided when only its name was received; the brief was held for manual review, and a prompt fix cut that from one in four to none in four. Learning: handler feedback becomes cited evidence, and a handler's rating of Synapt's answer goes back to Synapt as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The limits are real and documented. The data is synthetic. Synapt's ticket store holds two thousand claims, not a hundred million, so its ranking leg is a mild signal, and episode mining over those tickets has not run yet. The fraud model is a screening aid. Next steps are about scale and about evaluating on real handler runs. Close on the design principle: evidence informs, a person decides.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BA"/>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100" dirty="0">
                <a:solidFill>
                  <a:srgbClr val="5A6B73"/>
                </a:solidFill>
              </a:rPr>
              <a:t>AI-Powered Insurance Claims Assistant</a:t>
            </a:r>
            <a:endParaRPr lang="en-US" sz="1100" dirty="0"/>
          </a:p>
        </p:txBody>
      </p:sp>
      <p:sp>
        <p:nvSpPr>
          <p:cNvPr id="3" name="Text 1"/>
          <p:cNvSpPr/>
          <p:nvPr>
            <p:ph idx="101" type="title" hasCustomPrompt="1"/>
          </p:nvPr>
        </p:nvSpPr>
        <p:spPr>
          <a:xfrm>
            <a:off x="548640" y="320040"/>
            <a:ext cx="11064240" cy="8686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B73"/>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BA"/>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417320"/>
            <a:ext cx="1060704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AI-Powered Insurance Claims Assistant</a:t>
            </a:r>
            <a:endParaRPr lang="en-US" sz="4400" dirty="0"/>
          </a:p>
        </p:txBody>
      </p:sp>
      <p:sp>
        <p:nvSpPr>
          <p:cNvPr id="3" name="Text 1"/>
          <p:cNvSpPr txBox="1"/>
          <p:nvPr/>
        </p:nvSpPr>
        <p:spPr>
          <a:xfrm>
            <a:off x="731520" y="2514600"/>
            <a:ext cx="9601200" cy="822960"/>
          </a:xfrm>
          <a:prstGeom prst="rect">
            <a:avLst/>
          </a:prstGeom>
          <a:noFill/>
          <a:ln/>
        </p:spPr>
        <p:txBody>
          <a:bodyPr wrap="square" lIns="0" tIns="0" rIns="0" bIns="0" rtlCol="0" anchor="ctr"/>
          <a:lstStyle/>
          <a:p>
            <a:pPr indent="0" marL="0">
              <a:buNone/>
            </a:pPr>
            <a:r>
              <a:rPr lang="en-US" sz="2200" dirty="0">
                <a:solidFill>
                  <a:srgbClr val="CFE3E6"/>
                </a:solidFill>
              </a:rPr>
              <a:t>Evidence-led investigation over 100 million claims, with Synapt knowledge and a human review gate</a:t>
            </a:r>
            <a:endParaRPr lang="en-US" sz="2200" dirty="0"/>
          </a:p>
        </p:txBody>
      </p:sp>
      <p:sp>
        <p:nvSpPr>
          <p:cNvPr id="4" name="Shape 2"/>
          <p:cNvSpPr/>
          <p:nvPr/>
        </p:nvSpPr>
        <p:spPr>
          <a:xfrm>
            <a:off x="731520" y="4069080"/>
            <a:ext cx="3383280" cy="1463040"/>
          </a:xfrm>
          <a:prstGeom prst="roundRect">
            <a:avLst>
              <a:gd name="adj" fmla="val 7500"/>
            </a:avLst>
          </a:prstGeom>
          <a:solidFill>
            <a:srgbClr val="0E4A57"/>
          </a:solidFill>
          <a:ln w="12700">
            <a:solidFill>
              <a:srgbClr val="0E4A57"/>
            </a:solidFill>
            <a:prstDash val="solid"/>
          </a:ln>
        </p:spPr>
      </p:sp>
      <p:sp>
        <p:nvSpPr>
          <p:cNvPr id="5" name="Text 3"/>
          <p:cNvSpPr txBox="1"/>
          <p:nvPr/>
        </p:nvSpPr>
        <p:spPr>
          <a:xfrm>
            <a:off x="1005840" y="4206240"/>
            <a:ext cx="2834640" cy="731520"/>
          </a:xfrm>
          <a:prstGeom prst="rect">
            <a:avLst/>
          </a:prstGeom>
          <a:noFill/>
          <a:ln/>
        </p:spPr>
        <p:txBody>
          <a:bodyPr wrap="square" lIns="0" tIns="0" rIns="0" bIns="0" rtlCol="0" anchor="ctr"/>
          <a:lstStyle/>
          <a:p>
            <a:pPr indent="0" marL="0">
              <a:buNone/>
            </a:pPr>
            <a:r>
              <a:rPr lang="en-US" sz="3400" b="1" dirty="0">
                <a:solidFill>
                  <a:srgbClr val="F2A93B"/>
                </a:solidFill>
                <a:latin typeface="Cambria" pitchFamily="34" charset="0"/>
                <a:ea typeface="Cambria" pitchFamily="34" charset="-122"/>
                <a:cs typeface="Cambria" pitchFamily="34" charset="-120"/>
              </a:rPr>
              <a:t>100 million</a:t>
            </a:r>
            <a:endParaRPr lang="en-US" sz="3400" dirty="0"/>
          </a:p>
        </p:txBody>
      </p:sp>
      <p:sp>
        <p:nvSpPr>
          <p:cNvPr id="6" name="Text 4"/>
          <p:cNvSpPr txBox="1"/>
          <p:nvPr/>
        </p:nvSpPr>
        <p:spPr>
          <a:xfrm>
            <a:off x="1005840" y="4937760"/>
            <a:ext cx="2834640" cy="457200"/>
          </a:xfrm>
          <a:prstGeom prst="rect">
            <a:avLst/>
          </a:prstGeom>
          <a:noFill/>
          <a:ln/>
        </p:spPr>
        <p:txBody>
          <a:bodyPr wrap="square" lIns="0" tIns="0" rIns="0" bIns="0" rtlCol="0" anchor="ctr"/>
          <a:lstStyle/>
          <a:p>
            <a:pPr indent="0" marL="0">
              <a:buNone/>
            </a:pPr>
            <a:r>
              <a:rPr lang="en-US" sz="1600" dirty="0">
                <a:solidFill>
                  <a:srgbClr val="FFFFFF"/>
                </a:solidFill>
              </a:rPr>
              <a:t>claims queried in place</a:t>
            </a:r>
            <a:endParaRPr lang="en-US" sz="1600" dirty="0"/>
          </a:p>
        </p:txBody>
      </p:sp>
      <p:sp>
        <p:nvSpPr>
          <p:cNvPr id="7" name="Shape 5"/>
          <p:cNvSpPr/>
          <p:nvPr/>
        </p:nvSpPr>
        <p:spPr>
          <a:xfrm>
            <a:off x="4389120" y="4069080"/>
            <a:ext cx="3383280" cy="1463040"/>
          </a:xfrm>
          <a:prstGeom prst="roundRect">
            <a:avLst>
              <a:gd name="adj" fmla="val 7500"/>
            </a:avLst>
          </a:prstGeom>
          <a:solidFill>
            <a:srgbClr val="0E4A57"/>
          </a:solidFill>
          <a:ln w="12700">
            <a:solidFill>
              <a:srgbClr val="0E4A57"/>
            </a:solidFill>
            <a:prstDash val="solid"/>
          </a:ln>
        </p:spPr>
      </p:sp>
      <p:sp>
        <p:nvSpPr>
          <p:cNvPr id="8" name="Text 6"/>
          <p:cNvSpPr txBox="1"/>
          <p:nvPr/>
        </p:nvSpPr>
        <p:spPr>
          <a:xfrm>
            <a:off x="4663440" y="4206240"/>
            <a:ext cx="2834640" cy="731520"/>
          </a:xfrm>
          <a:prstGeom prst="rect">
            <a:avLst/>
          </a:prstGeom>
          <a:noFill/>
          <a:ln/>
        </p:spPr>
        <p:txBody>
          <a:bodyPr wrap="square" lIns="0" tIns="0" rIns="0" bIns="0" rtlCol="0" anchor="ctr"/>
          <a:lstStyle/>
          <a:p>
            <a:pPr indent="0" marL="0">
              <a:buNone/>
            </a:pPr>
            <a:r>
              <a:rPr lang="en-US" sz="3400" b="1" dirty="0">
                <a:solidFill>
                  <a:srgbClr val="F2A93B"/>
                </a:solidFill>
                <a:latin typeface="Cambria" pitchFamily="34" charset="0"/>
                <a:ea typeface="Cambria" pitchFamily="34" charset="-122"/>
                <a:cs typeface="Cambria" pitchFamily="34" charset="-120"/>
              </a:rPr>
              <a:t>2,000</a:t>
            </a:r>
            <a:endParaRPr lang="en-US" sz="3400" dirty="0"/>
          </a:p>
        </p:txBody>
      </p:sp>
      <p:sp>
        <p:nvSpPr>
          <p:cNvPr id="9" name="Text 7"/>
          <p:cNvSpPr txBox="1"/>
          <p:nvPr/>
        </p:nvSpPr>
        <p:spPr>
          <a:xfrm>
            <a:off x="4663440" y="4937760"/>
            <a:ext cx="2834640" cy="457200"/>
          </a:xfrm>
          <a:prstGeom prst="rect">
            <a:avLst/>
          </a:prstGeom>
          <a:noFill/>
          <a:ln/>
        </p:spPr>
        <p:txBody>
          <a:bodyPr wrap="square" lIns="0" tIns="0" rIns="0" bIns="0" rtlCol="0" anchor="ctr"/>
          <a:lstStyle/>
          <a:p>
            <a:pPr indent="0" marL="0">
              <a:buNone/>
            </a:pPr>
            <a:r>
              <a:rPr lang="en-US" sz="1600" dirty="0">
                <a:solidFill>
                  <a:srgbClr val="FFFFFF"/>
                </a:solidFill>
              </a:rPr>
              <a:t>tickets in Synapt</a:t>
            </a:r>
            <a:endParaRPr lang="en-US" sz="1600" dirty="0"/>
          </a:p>
        </p:txBody>
      </p:sp>
      <p:sp>
        <p:nvSpPr>
          <p:cNvPr id="10" name="Shape 8"/>
          <p:cNvSpPr/>
          <p:nvPr/>
        </p:nvSpPr>
        <p:spPr>
          <a:xfrm>
            <a:off x="8046720" y="4069080"/>
            <a:ext cx="3383280" cy="1463040"/>
          </a:xfrm>
          <a:prstGeom prst="roundRect">
            <a:avLst>
              <a:gd name="adj" fmla="val 7500"/>
            </a:avLst>
          </a:prstGeom>
          <a:solidFill>
            <a:srgbClr val="0E4A57"/>
          </a:solidFill>
          <a:ln w="12700">
            <a:solidFill>
              <a:srgbClr val="0E4A57"/>
            </a:solidFill>
            <a:prstDash val="solid"/>
          </a:ln>
        </p:spPr>
      </p:sp>
      <p:sp>
        <p:nvSpPr>
          <p:cNvPr id="11" name="Text 9"/>
          <p:cNvSpPr txBox="1"/>
          <p:nvPr/>
        </p:nvSpPr>
        <p:spPr>
          <a:xfrm>
            <a:off x="8321040" y="4206240"/>
            <a:ext cx="2834640" cy="731520"/>
          </a:xfrm>
          <a:prstGeom prst="rect">
            <a:avLst/>
          </a:prstGeom>
          <a:noFill/>
          <a:ln/>
        </p:spPr>
        <p:txBody>
          <a:bodyPr wrap="square" lIns="0" tIns="0" rIns="0" bIns="0" rtlCol="0" anchor="ctr"/>
          <a:lstStyle/>
          <a:p>
            <a:pPr indent="0" marL="0">
              <a:buNone/>
            </a:pPr>
            <a:r>
              <a:rPr lang="en-US" sz="3400" b="1" dirty="0">
                <a:solidFill>
                  <a:srgbClr val="F2A93B"/>
                </a:solidFill>
                <a:latin typeface="Cambria" pitchFamily="34" charset="0"/>
                <a:ea typeface="Cambria" pitchFamily="34" charset="-122"/>
                <a:cs typeface="Cambria" pitchFamily="34" charset="-120"/>
              </a:rPr>
              <a:t>8 stages</a:t>
            </a:r>
            <a:endParaRPr lang="en-US" sz="3400" dirty="0"/>
          </a:p>
        </p:txBody>
      </p:sp>
      <p:sp>
        <p:nvSpPr>
          <p:cNvPr id="12" name="Text 10"/>
          <p:cNvSpPr txBox="1"/>
          <p:nvPr/>
        </p:nvSpPr>
        <p:spPr>
          <a:xfrm>
            <a:off x="8321040" y="4937760"/>
            <a:ext cx="2834640" cy="457200"/>
          </a:xfrm>
          <a:prstGeom prst="rect">
            <a:avLst/>
          </a:prstGeom>
          <a:noFill/>
          <a:ln/>
        </p:spPr>
        <p:txBody>
          <a:bodyPr wrap="square" lIns="0" tIns="0" rIns="0" bIns="0" rtlCol="0" anchor="ctr"/>
          <a:lstStyle/>
          <a:p>
            <a:pPr indent="0" marL="0">
              <a:buNone/>
            </a:pPr>
            <a:r>
              <a:rPr lang="en-US" sz="1600" dirty="0">
                <a:solidFill>
                  <a:srgbClr val="FFFFFF"/>
                </a:solidFill>
              </a:rPr>
              <a:t>and one human gate</a:t>
            </a:r>
            <a:endParaRPr lang="en-US" sz="1600" dirty="0"/>
          </a:p>
        </p:txBody>
      </p:sp>
      <p:sp>
        <p:nvSpPr>
          <p:cNvPr id="13" name="Text 11"/>
          <p:cNvSpPr txBox="1"/>
          <p:nvPr/>
        </p:nvSpPr>
        <p:spPr>
          <a:xfrm>
            <a:off x="731520" y="6126480"/>
            <a:ext cx="5486400" cy="320040"/>
          </a:xfrm>
          <a:prstGeom prst="rect">
            <a:avLst/>
          </a:prstGeom>
          <a:noFill/>
          <a:ln/>
        </p:spPr>
        <p:txBody>
          <a:bodyPr wrap="square" lIns="0" tIns="0" rIns="0" bIns="0" rtlCol="0" anchor="ctr"/>
          <a:lstStyle/>
          <a:p>
            <a:pPr indent="0" marL="0">
              <a:buNone/>
            </a:pPr>
            <a:r>
              <a:rPr lang="en-US" sz="1400" dirty="0">
                <a:solidFill>
                  <a:srgbClr val="9FB3BA"/>
                </a:solidFill>
              </a:rPr>
              <a:t>Capstone panel  |  10 minutes</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BA"/>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Three questions every handler asks</a:t>
            </a:r>
            <a:endParaRPr lang="en-US" sz="3200" dirty="0"/>
          </a:p>
        </p:txBody>
      </p:sp>
      <p:sp>
        <p:nvSpPr>
          <p:cNvPr id="3" name="Shape 1"/>
          <p:cNvSpPr/>
          <p:nvPr/>
        </p:nvSpPr>
        <p:spPr>
          <a:xfrm>
            <a:off x="548640" y="1463040"/>
            <a:ext cx="3483864" cy="4160520"/>
          </a:xfrm>
          <a:prstGeom prst="roundRect">
            <a:avLst>
              <a:gd name="adj" fmla="val 3150"/>
            </a:avLst>
          </a:prstGeom>
          <a:solidFill>
            <a:srgbClr val="E6F4F1"/>
          </a:solidFill>
          <a:ln w="12700">
            <a:solidFill>
              <a:srgbClr val="E6F4F1"/>
            </a:solidFill>
            <a:prstDash val="solid"/>
          </a:ln>
          <a:effectLst>
            <a:outerShdw sx="100000" sy="100000" kx="0" ky="0" algn="bl" rotWithShape="0" blurRad="101600" dist="25400" dir="5400000">
              <a:srgbClr val="000000">
                <a:alpha val="12000"/>
              </a:srgbClr>
            </a:outerShdw>
          </a:effectLst>
        </p:spPr>
      </p:sp>
      <p:sp>
        <p:nvSpPr>
          <p:cNvPr id="4" name="badge 1"/>
          <p:cNvSpPr/>
          <p:nvPr/>
        </p:nvSpPr>
        <p:spPr>
          <a:xfrm>
            <a:off x="822960" y="1737360"/>
            <a:ext cx="457200" cy="457200"/>
          </a:xfrm>
          <a:prstGeom prst="ellipse">
            <a:avLst/>
          </a:prstGeom>
          <a:solidFill>
            <a:srgbClr val="0E7C86"/>
          </a:solidFill>
          <a:ln w="12700">
            <a:solidFill>
              <a:srgbClr val="0E7C86"/>
            </a:solidFill>
            <a:prstDash val="solid"/>
          </a:ln>
        </p:spPr>
      </p:sp>
      <p:sp>
        <p:nvSpPr>
          <p:cNvPr id="5" name="Text 3"/>
          <p:cNvSpPr txBox="1"/>
          <p:nvPr/>
        </p:nvSpPr>
        <p:spPr>
          <a:xfrm>
            <a:off x="82296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822960" y="2331720"/>
            <a:ext cx="2971800" cy="1325880"/>
          </a:xfrm>
          <a:prstGeom prst="rect">
            <a:avLst/>
          </a:prstGeom>
          <a:noFill/>
          <a:ln/>
        </p:spPr>
        <p:txBody>
          <a:bodyPr wrap="square" lIns="0" tIns="0" rIns="0" bIns="0" rtlCol="0" anchor="t"/>
          <a:lstStyle/>
          <a:p>
            <a:pPr indent="0" marL="0">
              <a:buNone/>
            </a:pPr>
            <a:r>
              <a:rPr lang="en-US" sz="2000" b="1" dirty="0">
                <a:solidFill>
                  <a:srgbClr val="0B2530"/>
                </a:solidFill>
              </a:rPr>
              <a:t>Has a similar claim been processed, and how did it end?</a:t>
            </a:r>
            <a:endParaRPr lang="en-US" sz="2000" dirty="0"/>
          </a:p>
        </p:txBody>
      </p:sp>
      <p:sp>
        <p:nvSpPr>
          <p:cNvPr id="7" name="Text 5"/>
          <p:cNvSpPr txBox="1"/>
          <p:nvPr/>
        </p:nvSpPr>
        <p:spPr>
          <a:xfrm>
            <a:off x="822960" y="3703320"/>
            <a:ext cx="2971800" cy="1371600"/>
          </a:xfrm>
          <a:prstGeom prst="rect">
            <a:avLst/>
          </a:prstGeom>
          <a:noFill/>
          <a:ln/>
        </p:spPr>
        <p:txBody>
          <a:bodyPr wrap="square" lIns="0" tIns="0" rIns="0" bIns="0" rtlCol="0" anchor="t"/>
          <a:lstStyle/>
          <a:p>
            <a:pPr indent="0" marL="0">
              <a:buNone/>
            </a:pPr>
            <a:r>
              <a:rPr lang="en-US" sz="1400" dirty="0">
                <a:solidFill>
                  <a:srgbClr val="5A6B73"/>
                </a:solidFill>
              </a:rPr>
              <a:t>Filters, keyword, numeric and Synapt semantic ranks are fused over 100 million claims. Outcomes shown, with the rule that only already-settled claims count.</a:t>
            </a:r>
            <a:endParaRPr lang="en-US" sz="1400" dirty="0"/>
          </a:p>
        </p:txBody>
      </p:sp>
      <p:sp>
        <p:nvSpPr>
          <p:cNvPr id="8" name="Text 6"/>
          <p:cNvSpPr txBox="1"/>
          <p:nvPr/>
        </p:nvSpPr>
        <p:spPr>
          <a:xfrm>
            <a:off x="822960" y="5120640"/>
            <a:ext cx="2971800" cy="320040"/>
          </a:xfrm>
          <a:prstGeom prst="rect">
            <a:avLst/>
          </a:prstGeom>
          <a:noFill/>
          <a:ln/>
        </p:spPr>
        <p:txBody>
          <a:bodyPr wrap="square" lIns="0" tIns="0" rIns="0" bIns="0" rtlCol="0" anchor="ctr"/>
          <a:lstStyle/>
          <a:p>
            <a:pPr indent="0" marL="0">
              <a:buNone/>
            </a:pPr>
            <a:r>
              <a:rPr lang="en-US" sz="1400" b="1" dirty="0">
                <a:solidFill>
                  <a:srgbClr val="0E7C86"/>
                </a:solidFill>
              </a:rPr>
              <a:t>Hybrid retrieval</a:t>
            </a:r>
            <a:endParaRPr lang="en-US" sz="1400" dirty="0"/>
          </a:p>
        </p:txBody>
      </p:sp>
      <p:sp>
        <p:nvSpPr>
          <p:cNvPr id="9" name="Shape 7"/>
          <p:cNvSpPr/>
          <p:nvPr/>
        </p:nvSpPr>
        <p:spPr>
          <a:xfrm>
            <a:off x="4352544" y="1463040"/>
            <a:ext cx="3483864" cy="4160520"/>
          </a:xfrm>
          <a:prstGeom prst="roundRect">
            <a:avLst>
              <a:gd name="adj" fmla="val 3150"/>
            </a:avLst>
          </a:prstGeom>
          <a:solidFill>
            <a:srgbClr val="E6F4F1"/>
          </a:solidFill>
          <a:ln w="12700">
            <a:solidFill>
              <a:srgbClr val="E6F4F1"/>
            </a:solidFill>
            <a:prstDash val="solid"/>
          </a:ln>
          <a:effectLst>
            <a:outerShdw sx="100000" sy="100000" kx="0" ky="0" algn="bl" rotWithShape="0" blurRad="101600" dist="25400" dir="5400000">
              <a:srgbClr val="000000">
                <a:alpha val="12000"/>
              </a:srgbClr>
            </a:outerShdw>
          </a:effectLst>
        </p:spPr>
      </p:sp>
      <p:sp>
        <p:nvSpPr>
          <p:cNvPr id="10" name="badge 2"/>
          <p:cNvSpPr/>
          <p:nvPr/>
        </p:nvSpPr>
        <p:spPr>
          <a:xfrm>
            <a:off x="4626864" y="1737360"/>
            <a:ext cx="457200" cy="457200"/>
          </a:xfrm>
          <a:prstGeom prst="ellipse">
            <a:avLst/>
          </a:prstGeom>
          <a:solidFill>
            <a:srgbClr val="0E7C86"/>
          </a:solidFill>
          <a:ln w="12700">
            <a:solidFill>
              <a:srgbClr val="0E7C86"/>
            </a:solidFill>
            <a:prstDash val="solid"/>
          </a:ln>
        </p:spPr>
      </p:sp>
      <p:sp>
        <p:nvSpPr>
          <p:cNvPr id="11" name="Text 9"/>
          <p:cNvSpPr txBox="1"/>
          <p:nvPr/>
        </p:nvSpPr>
        <p:spPr>
          <a:xfrm>
            <a:off x="4626864"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2" name="Text 10"/>
          <p:cNvSpPr txBox="1"/>
          <p:nvPr/>
        </p:nvSpPr>
        <p:spPr>
          <a:xfrm>
            <a:off x="4626864" y="2331720"/>
            <a:ext cx="2971800" cy="1325880"/>
          </a:xfrm>
          <a:prstGeom prst="rect">
            <a:avLst/>
          </a:prstGeom>
          <a:noFill/>
          <a:ln/>
        </p:spPr>
        <p:txBody>
          <a:bodyPr wrap="square" lIns="0" tIns="0" rIns="0" bIns="0" rtlCol="0" anchor="t"/>
          <a:lstStyle/>
          <a:p>
            <a:pPr indent="0" marL="0">
              <a:buNone/>
            </a:pPr>
            <a:r>
              <a:rPr lang="en-US" sz="2000" b="1" dirty="0">
                <a:solidFill>
                  <a:srgbClr val="0B2530"/>
                </a:solidFill>
              </a:rPr>
              <a:t>What makes claims larger, or slower to resolve?</a:t>
            </a:r>
            <a:endParaRPr lang="en-US" sz="2000" dirty="0"/>
          </a:p>
        </p:txBody>
      </p:sp>
      <p:sp>
        <p:nvSpPr>
          <p:cNvPr id="13" name="Text 11"/>
          <p:cNvSpPr txBox="1"/>
          <p:nvPr/>
        </p:nvSpPr>
        <p:spPr>
          <a:xfrm>
            <a:off x="4626864" y="3703320"/>
            <a:ext cx="2971800" cy="1371600"/>
          </a:xfrm>
          <a:prstGeom prst="rect">
            <a:avLst/>
          </a:prstGeom>
          <a:noFill/>
          <a:ln/>
        </p:spPr>
        <p:txBody>
          <a:bodyPr wrap="square" lIns="0" tIns="0" rIns="0" bIns="0" rtlCol="0" anchor="t"/>
          <a:lstStyle/>
          <a:p>
            <a:pPr indent="0" marL="0">
              <a:buNone/>
            </a:pPr>
            <a:r>
              <a:rPr lang="en-US" sz="1400" dirty="0">
                <a:solidFill>
                  <a:srgbClr val="5A6B73"/>
                </a:solidFill>
              </a:rPr>
              <a:t>Amount and resolution models explain themselves: the direction of each effect, and what moved this claim from a typical one.</a:t>
            </a:r>
            <a:endParaRPr lang="en-US" sz="1400" dirty="0"/>
          </a:p>
        </p:txBody>
      </p:sp>
      <p:sp>
        <p:nvSpPr>
          <p:cNvPr id="14" name="Text 12"/>
          <p:cNvSpPr txBox="1"/>
          <p:nvPr/>
        </p:nvSpPr>
        <p:spPr>
          <a:xfrm>
            <a:off x="4626864" y="5120640"/>
            <a:ext cx="2971800" cy="320040"/>
          </a:xfrm>
          <a:prstGeom prst="rect">
            <a:avLst/>
          </a:prstGeom>
          <a:noFill/>
          <a:ln/>
        </p:spPr>
        <p:txBody>
          <a:bodyPr wrap="square" lIns="0" tIns="0" rIns="0" bIns="0" rtlCol="0" anchor="ctr"/>
          <a:lstStyle/>
          <a:p>
            <a:pPr indent="0" marL="0">
              <a:buNone/>
            </a:pPr>
            <a:r>
              <a:rPr lang="en-US" sz="1400" b="1" dirty="0">
                <a:solidFill>
                  <a:srgbClr val="0E7C86"/>
                </a:solidFill>
              </a:rPr>
              <a:t>Explainable models</a:t>
            </a:r>
            <a:endParaRPr lang="en-US" sz="1400" dirty="0"/>
          </a:p>
        </p:txBody>
      </p:sp>
      <p:sp>
        <p:nvSpPr>
          <p:cNvPr id="15" name="Shape 13"/>
          <p:cNvSpPr/>
          <p:nvPr/>
        </p:nvSpPr>
        <p:spPr>
          <a:xfrm>
            <a:off x="8156448" y="1463040"/>
            <a:ext cx="3483864" cy="4160520"/>
          </a:xfrm>
          <a:prstGeom prst="roundRect">
            <a:avLst>
              <a:gd name="adj" fmla="val 3150"/>
            </a:avLst>
          </a:prstGeom>
          <a:solidFill>
            <a:srgbClr val="E6F4F1"/>
          </a:solidFill>
          <a:ln w="12700">
            <a:solidFill>
              <a:srgbClr val="E6F4F1"/>
            </a:solidFill>
            <a:prstDash val="solid"/>
          </a:ln>
          <a:effectLst>
            <a:outerShdw sx="100000" sy="100000" kx="0" ky="0" algn="bl" rotWithShape="0" blurRad="101600" dist="25400" dir="5400000">
              <a:srgbClr val="000000">
                <a:alpha val="12000"/>
              </a:srgbClr>
            </a:outerShdw>
          </a:effectLst>
        </p:spPr>
      </p:sp>
      <p:sp>
        <p:nvSpPr>
          <p:cNvPr id="16" name="badge 3"/>
          <p:cNvSpPr/>
          <p:nvPr/>
        </p:nvSpPr>
        <p:spPr>
          <a:xfrm>
            <a:off x="8430768" y="1737360"/>
            <a:ext cx="457200" cy="457200"/>
          </a:xfrm>
          <a:prstGeom prst="ellipse">
            <a:avLst/>
          </a:prstGeom>
          <a:solidFill>
            <a:srgbClr val="0E7C86"/>
          </a:solidFill>
          <a:ln w="12700">
            <a:solidFill>
              <a:srgbClr val="0E7C86"/>
            </a:solidFill>
            <a:prstDash val="solid"/>
          </a:ln>
        </p:spPr>
      </p:sp>
      <p:sp>
        <p:nvSpPr>
          <p:cNvPr id="17" name="Text 15"/>
          <p:cNvSpPr txBox="1"/>
          <p:nvPr/>
        </p:nvSpPr>
        <p:spPr>
          <a:xfrm>
            <a:off x="8430768"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8" name="Text 16"/>
          <p:cNvSpPr txBox="1"/>
          <p:nvPr/>
        </p:nvSpPr>
        <p:spPr>
          <a:xfrm>
            <a:off x="8430768" y="2331720"/>
            <a:ext cx="2971800" cy="1325880"/>
          </a:xfrm>
          <a:prstGeom prst="rect">
            <a:avLst/>
          </a:prstGeom>
          <a:noFill/>
          <a:ln/>
        </p:spPr>
        <p:txBody>
          <a:bodyPr wrap="square" lIns="0" tIns="0" rIns="0" bIns="0" rtlCol="0" anchor="t"/>
          <a:lstStyle/>
          <a:p>
            <a:pPr indent="0" marL="0">
              <a:buNone/>
            </a:pPr>
            <a:r>
              <a:rPr lang="en-US" sz="2000" b="1" dirty="0">
                <a:solidFill>
                  <a:srgbClr val="0B2530"/>
                </a:solidFill>
              </a:rPr>
              <a:t>Does it resemble claims flagged as fraud?</a:t>
            </a:r>
            <a:endParaRPr lang="en-US" sz="2000" dirty="0"/>
          </a:p>
        </p:txBody>
      </p:sp>
      <p:sp>
        <p:nvSpPr>
          <p:cNvPr id="19" name="Text 17"/>
          <p:cNvSpPr txBox="1"/>
          <p:nvPr/>
        </p:nvSpPr>
        <p:spPr>
          <a:xfrm>
            <a:off x="8430768" y="3703320"/>
            <a:ext cx="2971800" cy="1371600"/>
          </a:xfrm>
          <a:prstGeom prst="rect">
            <a:avLst/>
          </a:prstGeom>
          <a:noFill/>
          <a:ln/>
        </p:spPr>
        <p:txBody>
          <a:bodyPr wrap="square" lIns="0" tIns="0" rIns="0" bIns="0" rtlCol="0" anchor="t"/>
          <a:lstStyle/>
          <a:p>
            <a:pPr indent="0" marL="0">
              <a:buNone/>
            </a:pPr>
            <a:r>
              <a:rPr lang="en-US" sz="1400" dirty="0">
                <a:solidFill>
                  <a:srgbClr val="5A6B73"/>
                </a:solidFill>
              </a:rPr>
              <a:t>A fraud-flag model, the flag rate among the closest historical claims, and an audited priority score. A signal to investigate, never a verdict.</a:t>
            </a:r>
            <a:endParaRPr lang="en-US" sz="1400" dirty="0"/>
          </a:p>
        </p:txBody>
      </p:sp>
      <p:sp>
        <p:nvSpPr>
          <p:cNvPr id="20" name="Text 18"/>
          <p:cNvSpPr txBox="1"/>
          <p:nvPr/>
        </p:nvSpPr>
        <p:spPr>
          <a:xfrm>
            <a:off x="8430768" y="5120640"/>
            <a:ext cx="2971800" cy="320040"/>
          </a:xfrm>
          <a:prstGeom prst="rect">
            <a:avLst/>
          </a:prstGeom>
          <a:noFill/>
          <a:ln/>
        </p:spPr>
        <p:txBody>
          <a:bodyPr wrap="square" lIns="0" tIns="0" rIns="0" bIns="0" rtlCol="0" anchor="ctr"/>
          <a:lstStyle/>
          <a:p>
            <a:pPr indent="0" marL="0">
              <a:buNone/>
            </a:pPr>
            <a:r>
              <a:rPr lang="en-US" sz="1400" b="1" dirty="0">
                <a:solidFill>
                  <a:srgbClr val="0E7C86"/>
                </a:solidFill>
              </a:rPr>
              <a:t>Risk and priority</a:t>
            </a:r>
            <a:endParaRPr lang="en-US" sz="1400" dirty="0"/>
          </a:p>
        </p:txBody>
      </p:sp>
      <p:sp>
        <p:nvSpPr>
          <p:cNvPr id="21" name="Text 19"/>
          <p:cNvSpPr txBox="1"/>
          <p:nvPr/>
        </p:nvSpPr>
        <p:spPr>
          <a:xfrm>
            <a:off x="548640" y="5852160"/>
            <a:ext cx="11064240" cy="365760"/>
          </a:xfrm>
          <a:prstGeom prst="rect">
            <a:avLst/>
          </a:prstGeom>
          <a:noFill/>
          <a:ln/>
        </p:spPr>
        <p:txBody>
          <a:bodyPr wrap="square" lIns="0" tIns="0" rIns="0" bIns="0" rtlCol="0" anchor="ctr"/>
          <a:lstStyle/>
          <a:p>
            <a:pPr indent="0" marL="0">
              <a:buNone/>
            </a:pPr>
            <a:r>
              <a:rPr lang="en-US" sz="1800" i="1" dirty="0">
                <a:solidFill>
                  <a:srgbClr val="0E4A57"/>
                </a:solidFill>
              </a:rPr>
              <a:t>Nothing here approves, denies or pays a claim. The handler decides.</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B7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One service, three stores, one human gate</a:t>
            </a:r>
            <a:endParaRPr lang="en-US" sz="3200" dirty="0"/>
          </a:p>
        </p:txBody>
      </p:sp>
      <p:pic>
        <p:nvPicPr>
          <p:cNvPr id="3" name="Architecture diagram" descr="Architecture: UI, FastAPI, LangGraph workflow, Parquet, Synapt, models, NVIDIA NIM, SQLite and the feedback loop">    </p:cNvPr>
          <p:cNvPicPr>
            <a:picLocks noChangeAspect="1"/>
          </p:cNvPicPr>
          <p:nvPr/>
        </p:nvPicPr>
        <p:blipFill>
          <a:blip r:embed="rId1"/>
          <a:stretch>
            <a:fillRect/>
          </a:stretch>
        </p:blipFill>
        <p:spPr>
          <a:xfrm>
            <a:off x="548640" y="1280160"/>
            <a:ext cx="7498080" cy="5038344"/>
          </a:xfrm>
          <a:prstGeom prst="rect">
            <a:avLst/>
          </a:prstGeom>
        </p:spPr>
      </p:pic>
      <p:sp>
        <p:nvSpPr>
          <p:cNvPr id="4" name="badge 1"/>
          <p:cNvSpPr/>
          <p:nvPr/>
        </p:nvSpPr>
        <p:spPr>
          <a:xfrm>
            <a:off x="8412480" y="1417320"/>
            <a:ext cx="411480" cy="411480"/>
          </a:xfrm>
          <a:prstGeom prst="ellipse">
            <a:avLst/>
          </a:prstGeom>
          <a:solidFill>
            <a:srgbClr val="0E7C86"/>
          </a:solidFill>
          <a:ln w="12700">
            <a:solidFill>
              <a:srgbClr val="0E7C86"/>
            </a:solidFill>
            <a:prstDash val="solid"/>
          </a:ln>
        </p:spPr>
      </p:sp>
      <p:sp>
        <p:nvSpPr>
          <p:cNvPr id="5" name="Text 2"/>
          <p:cNvSpPr txBox="1"/>
          <p:nvPr/>
        </p:nvSpPr>
        <p:spPr>
          <a:xfrm>
            <a:off x="8412480" y="14173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3"/>
          <p:cNvSpPr txBox="1"/>
          <p:nvPr/>
        </p:nvSpPr>
        <p:spPr>
          <a:xfrm>
            <a:off x="9006840" y="1399032"/>
            <a:ext cx="2651760" cy="411480"/>
          </a:xfrm>
          <a:prstGeom prst="rect">
            <a:avLst/>
          </a:prstGeom>
          <a:noFill/>
          <a:ln/>
        </p:spPr>
        <p:txBody>
          <a:bodyPr wrap="square" lIns="0" tIns="0" rIns="0" bIns="0" rtlCol="0" anchor="ctr"/>
          <a:lstStyle/>
          <a:p>
            <a:pPr indent="0" marL="0">
              <a:buNone/>
            </a:pPr>
            <a:r>
              <a:rPr lang="en-US" sz="1800" b="1" dirty="0">
                <a:solidFill>
                  <a:srgbClr val="0B2530"/>
                </a:solidFill>
              </a:rPr>
              <a:t>Parquet, 100M rows</a:t>
            </a:r>
            <a:endParaRPr lang="en-US" sz="1800" dirty="0"/>
          </a:p>
        </p:txBody>
      </p:sp>
      <p:sp>
        <p:nvSpPr>
          <p:cNvPr id="7" name="Text 4"/>
          <p:cNvSpPr txBox="1"/>
          <p:nvPr/>
        </p:nvSpPr>
        <p:spPr>
          <a:xfrm>
            <a:off x="9006840" y="1828800"/>
            <a:ext cx="2651760" cy="960120"/>
          </a:xfrm>
          <a:prstGeom prst="rect">
            <a:avLst/>
          </a:prstGeom>
          <a:noFill/>
          <a:ln/>
        </p:spPr>
        <p:txBody>
          <a:bodyPr wrap="square" lIns="0" tIns="0" rIns="0" bIns="0" rtlCol="0" anchor="t"/>
          <a:lstStyle/>
          <a:p>
            <a:pPr indent="0" marL="0">
              <a:buNone/>
            </a:pPr>
            <a:r>
              <a:rPr lang="en-US" sz="1400" dirty="0">
                <a:solidFill>
                  <a:srgbClr val="5A6B73"/>
                </a:solidFill>
              </a:rPr>
              <a:t>Authoritative for filters, similar claims, every number shown, and model training.</a:t>
            </a:r>
            <a:endParaRPr lang="en-US" sz="1400" dirty="0"/>
          </a:p>
        </p:txBody>
      </p:sp>
      <p:sp>
        <p:nvSpPr>
          <p:cNvPr id="8" name="badge 2"/>
          <p:cNvSpPr/>
          <p:nvPr/>
        </p:nvSpPr>
        <p:spPr>
          <a:xfrm>
            <a:off x="8412480" y="3017520"/>
            <a:ext cx="411480" cy="411480"/>
          </a:xfrm>
          <a:prstGeom prst="ellipse">
            <a:avLst/>
          </a:prstGeom>
          <a:solidFill>
            <a:srgbClr val="0E7C86"/>
          </a:solidFill>
          <a:ln w="12700">
            <a:solidFill>
              <a:srgbClr val="0E7C86"/>
            </a:solidFill>
            <a:prstDash val="solid"/>
          </a:ln>
        </p:spPr>
      </p:sp>
      <p:sp>
        <p:nvSpPr>
          <p:cNvPr id="9" name="Text 6"/>
          <p:cNvSpPr txBox="1"/>
          <p:nvPr/>
        </p:nvSpPr>
        <p:spPr>
          <a:xfrm>
            <a:off x="8412480" y="30175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0" name="Text 7"/>
          <p:cNvSpPr txBox="1"/>
          <p:nvPr/>
        </p:nvSpPr>
        <p:spPr>
          <a:xfrm>
            <a:off x="9006840" y="2999232"/>
            <a:ext cx="2651760" cy="411480"/>
          </a:xfrm>
          <a:prstGeom prst="rect">
            <a:avLst/>
          </a:prstGeom>
          <a:noFill/>
          <a:ln/>
        </p:spPr>
        <p:txBody>
          <a:bodyPr wrap="square" lIns="0" tIns="0" rIns="0" bIns="0" rtlCol="0" anchor="ctr"/>
          <a:lstStyle/>
          <a:p>
            <a:pPr indent="0" marL="0">
              <a:buNone/>
            </a:pPr>
            <a:r>
              <a:rPr lang="en-US" sz="1800" b="1" dirty="0">
                <a:solidFill>
                  <a:srgbClr val="0B2530"/>
                </a:solidFill>
              </a:rPr>
              <a:t>Synapt, over MCP</a:t>
            </a:r>
            <a:endParaRPr lang="en-US" sz="1800" dirty="0"/>
          </a:p>
        </p:txBody>
      </p:sp>
      <p:sp>
        <p:nvSpPr>
          <p:cNvPr id="11" name="Text 8"/>
          <p:cNvSpPr txBox="1"/>
          <p:nvPr/>
        </p:nvSpPr>
        <p:spPr>
          <a:xfrm>
            <a:off x="9006840" y="3429000"/>
            <a:ext cx="2651760" cy="960120"/>
          </a:xfrm>
          <a:prstGeom prst="rect">
            <a:avLst/>
          </a:prstGeom>
          <a:noFill/>
          <a:ln/>
        </p:spPr>
        <p:txBody>
          <a:bodyPr wrap="square" lIns="0" tIns="0" rIns="0" bIns="0" rtlCol="0" anchor="t"/>
          <a:lstStyle/>
          <a:p>
            <a:pPr indent="0" marL="0">
              <a:buNone/>
            </a:pPr>
            <a:r>
              <a:rPr lang="en-US" sz="1400" dirty="0">
                <a:solidFill>
                  <a:srgbClr val="5A6B73"/>
                </a:solidFill>
              </a:rPr>
              <a:t>Procedures as documents (the knowledge graph), past claims in its ticket store, reviewed lessons.</a:t>
            </a:r>
            <a:endParaRPr lang="en-US" sz="1400" dirty="0"/>
          </a:p>
        </p:txBody>
      </p:sp>
      <p:sp>
        <p:nvSpPr>
          <p:cNvPr id="12" name="badge 3"/>
          <p:cNvSpPr/>
          <p:nvPr/>
        </p:nvSpPr>
        <p:spPr>
          <a:xfrm>
            <a:off x="8412480" y="4617720"/>
            <a:ext cx="411480" cy="411480"/>
          </a:xfrm>
          <a:prstGeom prst="ellipse">
            <a:avLst/>
          </a:prstGeom>
          <a:solidFill>
            <a:srgbClr val="F2A93B"/>
          </a:solidFill>
          <a:ln w="12700">
            <a:solidFill>
              <a:srgbClr val="F2A93B"/>
            </a:solidFill>
            <a:prstDash val="solid"/>
          </a:ln>
        </p:spPr>
      </p:sp>
      <p:sp>
        <p:nvSpPr>
          <p:cNvPr id="13" name="Text 10"/>
          <p:cNvSpPr txBox="1"/>
          <p:nvPr/>
        </p:nvSpPr>
        <p:spPr>
          <a:xfrm>
            <a:off x="8412480" y="46177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4" name="Text 11"/>
          <p:cNvSpPr txBox="1"/>
          <p:nvPr/>
        </p:nvSpPr>
        <p:spPr>
          <a:xfrm>
            <a:off x="9006840" y="4599432"/>
            <a:ext cx="2651760" cy="411480"/>
          </a:xfrm>
          <a:prstGeom prst="rect">
            <a:avLst/>
          </a:prstGeom>
          <a:noFill/>
          <a:ln/>
        </p:spPr>
        <p:txBody>
          <a:bodyPr wrap="square" lIns="0" tIns="0" rIns="0" bIns="0" rtlCol="0" anchor="ctr"/>
          <a:lstStyle/>
          <a:p>
            <a:pPr indent="0" marL="0">
              <a:buNone/>
            </a:pPr>
            <a:r>
              <a:rPr lang="en-US" sz="1800" b="1" dirty="0">
                <a:solidFill>
                  <a:srgbClr val="0B2530"/>
                </a:solidFill>
              </a:rPr>
              <a:t>Human gate</a:t>
            </a:r>
            <a:endParaRPr lang="en-US" sz="1800" dirty="0"/>
          </a:p>
        </p:txBody>
      </p:sp>
      <p:sp>
        <p:nvSpPr>
          <p:cNvPr id="15" name="Text 12"/>
          <p:cNvSpPr txBox="1"/>
          <p:nvPr/>
        </p:nvSpPr>
        <p:spPr>
          <a:xfrm>
            <a:off x="9006840" y="5029200"/>
            <a:ext cx="2651760" cy="960120"/>
          </a:xfrm>
          <a:prstGeom prst="rect">
            <a:avLst/>
          </a:prstGeom>
          <a:noFill/>
          <a:ln/>
        </p:spPr>
        <p:txBody>
          <a:bodyPr wrap="square" lIns="0" tIns="0" rIns="0" bIns="0" rtlCol="0" anchor="t"/>
          <a:lstStyle/>
          <a:p>
            <a:pPr indent="0" marL="0">
              <a:buNone/>
            </a:pPr>
            <a:r>
              <a:rPr lang="en-US" sz="1400" dirty="0">
                <a:solidFill>
                  <a:srgbClr val="5A6B73"/>
                </a:solidFill>
              </a:rPr>
              <a:t>LangGraph pauses; the handler accepts or revises. Acceptance is blocked on failed validation.</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B7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Hybrid search over 100 million claims in 3 to 5 seconds</a:t>
            </a:r>
            <a:endParaRPr lang="en-US" sz="3200" dirty="0"/>
          </a:p>
        </p:txBody>
      </p:sp>
      <p:sp>
        <p:nvSpPr>
          <p:cNvPr id="3" name="Shape 1"/>
          <p:cNvSpPr/>
          <p:nvPr/>
        </p:nvSpPr>
        <p:spPr>
          <a:xfrm>
            <a:off x="548640" y="1417320"/>
            <a:ext cx="3931920" cy="1188720"/>
          </a:xfrm>
          <a:prstGeom prst="roundRect">
            <a:avLst>
              <a:gd name="adj" fmla="val 9231"/>
            </a:avLst>
          </a:prstGeom>
          <a:solidFill>
            <a:srgbClr val="E6F4F1"/>
          </a:solidFill>
          <a:ln w="12700">
            <a:solidFill>
              <a:srgbClr val="E6F4F1"/>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777240" y="1527048"/>
            <a:ext cx="3474720" cy="594360"/>
          </a:xfrm>
          <a:prstGeom prst="rect">
            <a:avLst/>
          </a:prstGeom>
          <a:noFill/>
          <a:ln/>
        </p:spPr>
        <p:txBody>
          <a:bodyPr wrap="square" lIns="0" tIns="0" rIns="0" bIns="0" rtlCol="0" anchor="ctr"/>
          <a:lstStyle/>
          <a:p>
            <a:pPr indent="0" marL="0">
              <a:buNone/>
            </a:pPr>
            <a:r>
              <a:rPr lang="en-US" sz="3200" b="1" dirty="0">
                <a:solidFill>
                  <a:srgbClr val="0E4A57"/>
                </a:solidFill>
                <a:latin typeface="Cambria" pitchFamily="34" charset="0"/>
                <a:ea typeface="Cambria" pitchFamily="34" charset="-122"/>
                <a:cs typeface="Cambria" pitchFamily="34" charset="-120"/>
              </a:rPr>
              <a:t>100,000,000</a:t>
            </a:r>
            <a:endParaRPr lang="en-US" sz="3200" dirty="0"/>
          </a:p>
        </p:txBody>
      </p:sp>
      <p:sp>
        <p:nvSpPr>
          <p:cNvPr id="5" name="Text 3"/>
          <p:cNvSpPr txBox="1"/>
          <p:nvPr/>
        </p:nvSpPr>
        <p:spPr>
          <a:xfrm>
            <a:off x="777240" y="2130552"/>
            <a:ext cx="3474720" cy="365760"/>
          </a:xfrm>
          <a:prstGeom prst="rect">
            <a:avLst/>
          </a:prstGeom>
          <a:noFill/>
          <a:ln/>
        </p:spPr>
        <p:txBody>
          <a:bodyPr wrap="square" lIns="0" tIns="0" rIns="0" bIns="0" rtlCol="0" anchor="ctr"/>
          <a:lstStyle/>
          <a:p>
            <a:pPr indent="0" marL="0">
              <a:buNone/>
            </a:pPr>
            <a:r>
              <a:rPr lang="en-US" sz="1400" dirty="0">
                <a:solidFill>
                  <a:srgbClr val="5A6B73"/>
                </a:solidFill>
              </a:rPr>
              <a:t>claims, queried in place by DuckDB</a:t>
            </a:r>
            <a:endParaRPr lang="en-US" sz="1400" dirty="0"/>
          </a:p>
        </p:txBody>
      </p:sp>
      <p:sp>
        <p:nvSpPr>
          <p:cNvPr id="6" name="Shape 4"/>
          <p:cNvSpPr/>
          <p:nvPr/>
        </p:nvSpPr>
        <p:spPr>
          <a:xfrm>
            <a:off x="548640" y="2788920"/>
            <a:ext cx="3931920" cy="1188720"/>
          </a:xfrm>
          <a:prstGeom prst="roundRect">
            <a:avLst>
              <a:gd name="adj" fmla="val 9231"/>
            </a:avLst>
          </a:prstGeom>
          <a:solidFill>
            <a:srgbClr val="E6F4F1"/>
          </a:solidFill>
          <a:ln w="12700">
            <a:solidFill>
              <a:srgbClr val="E6F4F1"/>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777240" y="2898648"/>
            <a:ext cx="3474720" cy="594360"/>
          </a:xfrm>
          <a:prstGeom prst="rect">
            <a:avLst/>
          </a:prstGeom>
          <a:noFill/>
          <a:ln/>
        </p:spPr>
        <p:txBody>
          <a:bodyPr wrap="square" lIns="0" tIns="0" rIns="0" bIns="0" rtlCol="0" anchor="ctr"/>
          <a:lstStyle/>
          <a:p>
            <a:pPr indent="0" marL="0">
              <a:buNone/>
            </a:pPr>
            <a:r>
              <a:rPr lang="en-US" sz="3200" b="1" dirty="0">
                <a:solidFill>
                  <a:srgbClr val="0E4A57"/>
                </a:solidFill>
                <a:latin typeface="Cambria" pitchFamily="34" charset="0"/>
                <a:ea typeface="Cambria" pitchFamily="34" charset="-122"/>
                <a:cs typeface="Cambria" pitchFamily="34" charset="-120"/>
              </a:rPr>
              <a:t>3 to 5 s</a:t>
            </a:r>
            <a:endParaRPr lang="en-US" sz="3200" dirty="0"/>
          </a:p>
        </p:txBody>
      </p:sp>
      <p:sp>
        <p:nvSpPr>
          <p:cNvPr id="8" name="Text 6"/>
          <p:cNvSpPr txBox="1"/>
          <p:nvPr/>
        </p:nvSpPr>
        <p:spPr>
          <a:xfrm>
            <a:off x="777240" y="3502152"/>
            <a:ext cx="3474720" cy="365760"/>
          </a:xfrm>
          <a:prstGeom prst="rect">
            <a:avLst/>
          </a:prstGeom>
          <a:noFill/>
          <a:ln/>
        </p:spPr>
        <p:txBody>
          <a:bodyPr wrap="square" lIns="0" tIns="0" rIns="0" bIns="0" rtlCol="0" anchor="ctr"/>
          <a:lstStyle/>
          <a:p>
            <a:pPr indent="0" marL="0">
              <a:buNone/>
            </a:pPr>
            <a:r>
              <a:rPr lang="en-US" sz="1400" dirty="0">
                <a:solidFill>
                  <a:srgbClr val="5A6B73"/>
                </a:solidFill>
              </a:rPr>
              <a:t>per filtered, fused search</a:t>
            </a:r>
            <a:endParaRPr lang="en-US" sz="1400" dirty="0"/>
          </a:p>
        </p:txBody>
      </p:sp>
      <p:sp>
        <p:nvSpPr>
          <p:cNvPr id="9" name="Shape 7"/>
          <p:cNvSpPr/>
          <p:nvPr/>
        </p:nvSpPr>
        <p:spPr>
          <a:xfrm>
            <a:off x="548640" y="4160520"/>
            <a:ext cx="3931920" cy="1188720"/>
          </a:xfrm>
          <a:prstGeom prst="roundRect">
            <a:avLst>
              <a:gd name="adj" fmla="val 9231"/>
            </a:avLst>
          </a:prstGeom>
          <a:solidFill>
            <a:srgbClr val="E6F4F1"/>
          </a:solidFill>
          <a:ln w="12700">
            <a:solidFill>
              <a:srgbClr val="E6F4F1"/>
            </a:solidFill>
            <a:prstDash val="solid"/>
          </a:ln>
          <a:effectLst>
            <a:outerShdw sx="100000" sy="100000" kx="0" ky="0" algn="bl" rotWithShape="0" blurRad="101600" dist="25400" dir="5400000">
              <a:srgbClr val="000000">
                <a:alpha val="12000"/>
              </a:srgbClr>
            </a:outerShdw>
          </a:effectLst>
        </p:spPr>
      </p:sp>
      <p:sp>
        <p:nvSpPr>
          <p:cNvPr id="10" name="Text 8"/>
          <p:cNvSpPr txBox="1"/>
          <p:nvPr/>
        </p:nvSpPr>
        <p:spPr>
          <a:xfrm>
            <a:off x="777240" y="4270248"/>
            <a:ext cx="3474720" cy="594360"/>
          </a:xfrm>
          <a:prstGeom prst="rect">
            <a:avLst/>
          </a:prstGeom>
          <a:noFill/>
          <a:ln/>
        </p:spPr>
        <p:txBody>
          <a:bodyPr wrap="square" lIns="0" tIns="0" rIns="0" bIns="0" rtlCol="0" anchor="ctr"/>
          <a:lstStyle/>
          <a:p>
            <a:pPr indent="0" marL="0">
              <a:buNone/>
            </a:pPr>
            <a:r>
              <a:rPr lang="en-US" sz="3200" b="1" dirty="0">
                <a:solidFill>
                  <a:srgbClr val="0E4A57"/>
                </a:solidFill>
                <a:latin typeface="Cambria" pitchFamily="34" charset="0"/>
                <a:ea typeface="Cambria" pitchFamily="34" charset="-122"/>
                <a:cs typeface="Cambria" pitchFamily="34" charset="-120"/>
              </a:rPr>
              <a:t>2.52 GB</a:t>
            </a:r>
            <a:endParaRPr lang="en-US" sz="3200" dirty="0"/>
          </a:p>
        </p:txBody>
      </p:sp>
      <p:sp>
        <p:nvSpPr>
          <p:cNvPr id="11" name="Text 9"/>
          <p:cNvSpPr txBox="1"/>
          <p:nvPr/>
        </p:nvSpPr>
        <p:spPr>
          <a:xfrm>
            <a:off x="777240" y="4873752"/>
            <a:ext cx="3474720" cy="365760"/>
          </a:xfrm>
          <a:prstGeom prst="rect">
            <a:avLst/>
          </a:prstGeom>
          <a:noFill/>
          <a:ln/>
        </p:spPr>
        <p:txBody>
          <a:bodyPr wrap="square" lIns="0" tIns="0" rIns="0" bIns="0" rtlCol="0" anchor="ctr"/>
          <a:lstStyle/>
          <a:p>
            <a:pPr indent="0" marL="0">
              <a:buNone/>
            </a:pPr>
            <a:r>
              <a:rPr lang="en-US" sz="1400" dirty="0">
                <a:solidFill>
                  <a:srgbClr val="5A6B73"/>
                </a:solidFill>
              </a:rPr>
              <a:t>one Parquet file, SHA256-verified</a:t>
            </a:r>
            <a:endParaRPr lang="en-US" sz="1400" dirty="0"/>
          </a:p>
        </p:txBody>
      </p:sp>
      <p:sp>
        <p:nvSpPr>
          <p:cNvPr id="12" name="badge 1"/>
          <p:cNvSpPr/>
          <p:nvPr/>
        </p:nvSpPr>
        <p:spPr>
          <a:xfrm>
            <a:off x="4937760" y="1417320"/>
            <a:ext cx="384048" cy="384048"/>
          </a:xfrm>
          <a:prstGeom prst="ellipse">
            <a:avLst/>
          </a:prstGeom>
          <a:solidFill>
            <a:srgbClr val="0E7C86"/>
          </a:solidFill>
          <a:ln w="12700">
            <a:solidFill>
              <a:srgbClr val="0E7C86"/>
            </a:solidFill>
            <a:prstDash val="solid"/>
          </a:ln>
        </p:spPr>
      </p:sp>
      <p:sp>
        <p:nvSpPr>
          <p:cNvPr id="13" name="Text 11"/>
          <p:cNvSpPr txBox="1"/>
          <p:nvPr/>
        </p:nvSpPr>
        <p:spPr>
          <a:xfrm>
            <a:off x="4937760" y="14173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4" name="Text 12"/>
          <p:cNvSpPr txBox="1"/>
          <p:nvPr/>
        </p:nvSpPr>
        <p:spPr>
          <a:xfrm>
            <a:off x="5486400" y="1380744"/>
            <a:ext cx="6126480" cy="365760"/>
          </a:xfrm>
          <a:prstGeom prst="rect">
            <a:avLst/>
          </a:prstGeom>
          <a:noFill/>
          <a:ln/>
        </p:spPr>
        <p:txBody>
          <a:bodyPr wrap="square" lIns="0" tIns="0" rIns="0" bIns="0" rtlCol="0" anchor="ctr"/>
          <a:lstStyle/>
          <a:p>
            <a:pPr indent="0" marL="0">
              <a:buNone/>
            </a:pPr>
            <a:r>
              <a:rPr lang="en-US" sz="1800" b="1" dirty="0">
                <a:solidFill>
                  <a:srgbClr val="0B2530"/>
                </a:solidFill>
              </a:rPr>
              <a:t>SQL filters and candidates</a:t>
            </a:r>
            <a:endParaRPr lang="en-US" sz="1800" dirty="0"/>
          </a:p>
        </p:txBody>
      </p:sp>
      <p:sp>
        <p:nvSpPr>
          <p:cNvPr id="15" name="Text 13"/>
          <p:cNvSpPr txBox="1"/>
          <p:nvPr/>
        </p:nvSpPr>
        <p:spPr>
          <a:xfrm>
            <a:off x="5486400" y="1746504"/>
            <a:ext cx="6126480" cy="502920"/>
          </a:xfrm>
          <a:prstGeom prst="rect">
            <a:avLst/>
          </a:prstGeom>
          <a:noFill/>
          <a:ln/>
        </p:spPr>
        <p:txBody>
          <a:bodyPr wrap="square" lIns="0" tIns="0" rIns="0" bIns="0" rtlCol="0" anchor="t"/>
          <a:lstStyle/>
          <a:p>
            <a:pPr indent="0" marL="0">
              <a:buNone/>
            </a:pPr>
            <a:r>
              <a:rPr lang="en-US" sz="1400" dirty="0">
                <a:solidFill>
                  <a:srgbClr val="5A6B73"/>
                </a:solidFill>
              </a:rPr>
              <a:t>Type, state, status, amount, history. Only claims settled before this one was filed qualify.</a:t>
            </a:r>
            <a:endParaRPr lang="en-US" sz="1400" dirty="0"/>
          </a:p>
        </p:txBody>
      </p:sp>
      <p:sp>
        <p:nvSpPr>
          <p:cNvPr id="16" name="badge 2"/>
          <p:cNvSpPr/>
          <p:nvPr/>
        </p:nvSpPr>
        <p:spPr>
          <a:xfrm>
            <a:off x="4937760" y="2377440"/>
            <a:ext cx="384048" cy="384048"/>
          </a:xfrm>
          <a:prstGeom prst="ellipse">
            <a:avLst/>
          </a:prstGeom>
          <a:solidFill>
            <a:srgbClr val="0E7C86"/>
          </a:solidFill>
          <a:ln w="12700">
            <a:solidFill>
              <a:srgbClr val="0E7C86"/>
            </a:solidFill>
            <a:prstDash val="solid"/>
          </a:ln>
        </p:spPr>
      </p:sp>
      <p:sp>
        <p:nvSpPr>
          <p:cNvPr id="17" name="Text 15"/>
          <p:cNvSpPr txBox="1"/>
          <p:nvPr/>
        </p:nvSpPr>
        <p:spPr>
          <a:xfrm>
            <a:off x="4937760" y="23774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8" name="Text 16"/>
          <p:cNvSpPr txBox="1"/>
          <p:nvPr/>
        </p:nvSpPr>
        <p:spPr>
          <a:xfrm>
            <a:off x="5486400" y="2340864"/>
            <a:ext cx="6126480" cy="365760"/>
          </a:xfrm>
          <a:prstGeom prst="rect">
            <a:avLst/>
          </a:prstGeom>
          <a:noFill/>
          <a:ln/>
        </p:spPr>
        <p:txBody>
          <a:bodyPr wrap="square" lIns="0" tIns="0" rIns="0" bIns="0" rtlCol="0" anchor="ctr"/>
          <a:lstStyle/>
          <a:p>
            <a:pPr indent="0" marL="0">
              <a:buNone/>
            </a:pPr>
            <a:r>
              <a:rPr lang="en-US" sz="1800" b="1" dirty="0">
                <a:solidFill>
                  <a:srgbClr val="0B2530"/>
                </a:solidFill>
              </a:rPr>
              <a:t>Synapt semantic ranking</a:t>
            </a:r>
            <a:endParaRPr lang="en-US" sz="1800" dirty="0"/>
          </a:p>
        </p:txBody>
      </p:sp>
      <p:sp>
        <p:nvSpPr>
          <p:cNvPr id="19" name="Text 17"/>
          <p:cNvSpPr txBox="1"/>
          <p:nvPr/>
        </p:nvSpPr>
        <p:spPr>
          <a:xfrm>
            <a:off x="5486400" y="2706624"/>
            <a:ext cx="6126480" cy="502920"/>
          </a:xfrm>
          <a:prstGeom prst="rect">
            <a:avLst/>
          </a:prstGeom>
          <a:noFill/>
          <a:ln/>
        </p:spPr>
        <p:txBody>
          <a:bodyPr wrap="square" lIns="0" tIns="0" rIns="0" bIns="0" rtlCol="0" anchor="t"/>
          <a:lstStyle/>
          <a:p>
            <a:pPr indent="0" marL="0">
              <a:buNone/>
            </a:pPr>
            <a:r>
              <a:rPr lang="en-US" sz="1400" dirty="0">
                <a:solidFill>
                  <a:srgbClr val="5A6B73"/>
                </a:solidFill>
              </a:rPr>
              <a:t>Past claims in Synapt's ticket store closest to this one; looked up under the same filters, so nothing bypasses them.</a:t>
            </a:r>
            <a:endParaRPr lang="en-US" sz="1400" dirty="0"/>
          </a:p>
        </p:txBody>
      </p:sp>
      <p:sp>
        <p:nvSpPr>
          <p:cNvPr id="20" name="badge 3"/>
          <p:cNvSpPr/>
          <p:nvPr/>
        </p:nvSpPr>
        <p:spPr>
          <a:xfrm>
            <a:off x="4937760" y="3337560"/>
            <a:ext cx="384048" cy="384048"/>
          </a:xfrm>
          <a:prstGeom prst="ellipse">
            <a:avLst/>
          </a:prstGeom>
          <a:solidFill>
            <a:srgbClr val="0E7C86"/>
          </a:solidFill>
          <a:ln w="12700">
            <a:solidFill>
              <a:srgbClr val="0E7C86"/>
            </a:solidFill>
            <a:prstDash val="solid"/>
          </a:ln>
        </p:spPr>
      </p:sp>
      <p:sp>
        <p:nvSpPr>
          <p:cNvPr id="21" name="Text 19"/>
          <p:cNvSpPr txBox="1"/>
          <p:nvPr/>
        </p:nvSpPr>
        <p:spPr>
          <a:xfrm>
            <a:off x="4937760" y="33375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22" name="Text 20"/>
          <p:cNvSpPr txBox="1"/>
          <p:nvPr/>
        </p:nvSpPr>
        <p:spPr>
          <a:xfrm>
            <a:off x="5486400" y="3300984"/>
            <a:ext cx="6126480" cy="365760"/>
          </a:xfrm>
          <a:prstGeom prst="rect">
            <a:avLst/>
          </a:prstGeom>
          <a:noFill/>
          <a:ln/>
        </p:spPr>
        <p:txBody>
          <a:bodyPr wrap="square" lIns="0" tIns="0" rIns="0" bIns="0" rtlCol="0" anchor="ctr"/>
          <a:lstStyle/>
          <a:p>
            <a:pPr indent="0" marL="0">
              <a:buNone/>
            </a:pPr>
            <a:r>
              <a:rPr lang="en-US" sz="1800" b="1" dirty="0">
                <a:solidFill>
                  <a:srgbClr val="0B2530"/>
                </a:solidFill>
              </a:rPr>
              <a:t>Reciprocal-rank fusion</a:t>
            </a:r>
            <a:endParaRPr lang="en-US" sz="1800" dirty="0"/>
          </a:p>
        </p:txBody>
      </p:sp>
      <p:sp>
        <p:nvSpPr>
          <p:cNvPr id="23" name="Text 21"/>
          <p:cNvSpPr txBox="1"/>
          <p:nvPr/>
        </p:nvSpPr>
        <p:spPr>
          <a:xfrm>
            <a:off x="5486400" y="3666744"/>
            <a:ext cx="6126480" cy="502920"/>
          </a:xfrm>
          <a:prstGeom prst="rect">
            <a:avLst/>
          </a:prstGeom>
          <a:noFill/>
          <a:ln/>
        </p:spPr>
        <p:txBody>
          <a:bodyPr wrap="square" lIns="0" tIns="0" rIns="0" bIns="0" rtlCol="0" anchor="t"/>
          <a:lstStyle/>
          <a:p>
            <a:pPr indent="0" marL="0">
              <a:buNone/>
            </a:pPr>
            <a:r>
              <a:rPr lang="en-US" sz="1400" dirty="0">
                <a:solidFill>
                  <a:srgbClr val="5A6B73"/>
                </a:solidFill>
              </a:rPr>
              <a:t>Keyword 1, numeric similarity 1, Synapt 0.5. The five closest come first.</a:t>
            </a:r>
            <a:endParaRPr lang="en-US" sz="1400" dirty="0"/>
          </a:p>
        </p:txBody>
      </p:sp>
      <p:sp>
        <p:nvSpPr>
          <p:cNvPr id="24" name="badge 4"/>
          <p:cNvSpPr/>
          <p:nvPr/>
        </p:nvSpPr>
        <p:spPr>
          <a:xfrm>
            <a:off x="4937760" y="4297680"/>
            <a:ext cx="384048" cy="384048"/>
          </a:xfrm>
          <a:prstGeom prst="ellipse">
            <a:avLst/>
          </a:prstGeom>
          <a:solidFill>
            <a:srgbClr val="0E7C86"/>
          </a:solidFill>
          <a:ln w="12700">
            <a:solidFill>
              <a:srgbClr val="0E7C86"/>
            </a:solidFill>
            <a:prstDash val="solid"/>
          </a:ln>
        </p:spPr>
      </p:sp>
      <p:sp>
        <p:nvSpPr>
          <p:cNvPr id="25" name="Text 23"/>
          <p:cNvSpPr txBox="1"/>
          <p:nvPr/>
        </p:nvSpPr>
        <p:spPr>
          <a:xfrm>
            <a:off x="4937760" y="429768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6" name="Text 24"/>
          <p:cNvSpPr txBox="1"/>
          <p:nvPr/>
        </p:nvSpPr>
        <p:spPr>
          <a:xfrm>
            <a:off x="5486400" y="4261104"/>
            <a:ext cx="6126480" cy="365760"/>
          </a:xfrm>
          <a:prstGeom prst="rect">
            <a:avLst/>
          </a:prstGeom>
          <a:noFill/>
          <a:ln/>
        </p:spPr>
        <p:txBody>
          <a:bodyPr wrap="square" lIns="0" tIns="0" rIns="0" bIns="0" rtlCol="0" anchor="ctr"/>
          <a:lstStyle/>
          <a:p>
            <a:pPr indent="0" marL="0">
              <a:buNone/>
            </a:pPr>
            <a:r>
              <a:rPr lang="en-US" sz="1800" b="1" dirty="0">
                <a:solidFill>
                  <a:srgbClr val="0B2530"/>
                </a:solidFill>
              </a:rPr>
              <a:t>Related by meaning</a:t>
            </a:r>
            <a:endParaRPr lang="en-US" sz="1800" dirty="0"/>
          </a:p>
        </p:txBody>
      </p:sp>
      <p:sp>
        <p:nvSpPr>
          <p:cNvPr id="27" name="Text 25"/>
          <p:cNvSpPr txBox="1"/>
          <p:nvPr/>
        </p:nvSpPr>
        <p:spPr>
          <a:xfrm>
            <a:off x="5486400" y="4626864"/>
            <a:ext cx="6126480" cy="502920"/>
          </a:xfrm>
          <a:prstGeom prst="rect">
            <a:avLst/>
          </a:prstGeom>
          <a:noFill/>
          <a:ln/>
        </p:spPr>
        <p:txBody>
          <a:bodyPr wrap="square" lIns="0" tIns="0" rIns="0" bIns="0" rtlCol="0" anchor="t"/>
          <a:lstStyle/>
          <a:p>
            <a:pPr indent="0" marL="0">
              <a:buNone/>
            </a:pPr>
            <a:r>
              <a:rPr lang="en-US" sz="1400" dirty="0">
                <a:solidFill>
                  <a:srgbClr val="5A6B73"/>
                </a:solidFill>
              </a:rPr>
              <a:t>Up to three more that Synapt ranks similar, labelled with their Synapt rank.</a:t>
            </a:r>
            <a:endParaRPr lang="en-US" sz="1400" dirty="0"/>
          </a:p>
        </p:txBody>
      </p:sp>
      <p:sp>
        <p:nvSpPr>
          <p:cNvPr id="28" name="Shape 26"/>
          <p:cNvSpPr/>
          <p:nvPr/>
        </p:nvSpPr>
        <p:spPr>
          <a:xfrm>
            <a:off x="4937760" y="5349240"/>
            <a:ext cx="6702552" cy="868680"/>
          </a:xfrm>
          <a:prstGeom prst="roundRect">
            <a:avLst>
              <a:gd name="adj" fmla="val 12632"/>
            </a:avLst>
          </a:prstGeom>
          <a:solidFill>
            <a:srgbClr val="FDF1DC"/>
          </a:solidFill>
          <a:ln w="12700">
            <a:solidFill>
              <a:srgbClr val="FDF1DC"/>
            </a:solidFill>
            <a:prstDash val="solid"/>
          </a:ln>
          <a:effectLst>
            <a:outerShdw sx="100000" sy="100000" kx="0" ky="0" algn="bl" rotWithShape="0" blurRad="101600" dist="25400" dir="5400000">
              <a:srgbClr val="000000">
                <a:alpha val="12000"/>
              </a:srgbClr>
            </a:outerShdw>
          </a:effectLst>
        </p:spPr>
      </p:sp>
      <p:sp>
        <p:nvSpPr>
          <p:cNvPr id="29" name="Text 27"/>
          <p:cNvSpPr txBox="1"/>
          <p:nvPr/>
        </p:nvSpPr>
        <p:spPr>
          <a:xfrm>
            <a:off x="5120640" y="5394960"/>
            <a:ext cx="6355080" cy="777240"/>
          </a:xfrm>
          <a:prstGeom prst="rect">
            <a:avLst/>
          </a:prstGeom>
          <a:noFill/>
          <a:ln/>
        </p:spPr>
        <p:txBody>
          <a:bodyPr wrap="square" lIns="0" tIns="0" rIns="0" bIns="0" rtlCol="0" anchor="ctr"/>
          <a:lstStyle/>
          <a:p>
            <a:pPr indent="0" marL="0">
              <a:buNone/>
            </a:pPr>
            <a:r>
              <a:rPr lang="en-US" sz="1500" b="1" dirty="0">
                <a:solidFill>
                  <a:srgbClr val="0B2530"/>
                </a:solidFill>
              </a:rPr>
              <a:t>Measured, not assumed. </a:t>
            </a:r>
            <a:pPr indent="0" marL="0">
              <a:buNone/>
            </a:pPr>
            <a:r>
              <a:rPr lang="en-US" sz="1500" dirty="0">
                <a:solidFill>
                  <a:srgbClr val="0B2530"/>
                </a:solidFill>
              </a:rPr>
              <a:t>Keyword IDF ranked a $3,393 New Jersey claim above exact $8,500 Texas matches. Removed, with a regression test.</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B7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Synapt: the right data in the right store</a:t>
            </a:r>
            <a:endParaRPr lang="en-US" sz="3200" dirty="0"/>
          </a:p>
        </p:txBody>
      </p:sp>
      <p:sp>
        <p:nvSpPr>
          <p:cNvPr id="3" name="Shape 1"/>
          <p:cNvSpPr/>
          <p:nvPr/>
        </p:nvSpPr>
        <p:spPr>
          <a:xfrm>
            <a:off x="548640" y="1371600"/>
            <a:ext cx="5120640" cy="1371600"/>
          </a:xfrm>
          <a:prstGeom prst="roundRect">
            <a:avLst>
              <a:gd name="adj" fmla="val 8000"/>
            </a:avLst>
          </a:prstGeom>
          <a:solidFill>
            <a:srgbClr val="E6F4F1"/>
          </a:solidFill>
          <a:ln w="12700">
            <a:solidFill>
              <a:srgbClr val="E6F4F1"/>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777240" y="1481328"/>
            <a:ext cx="2194560" cy="365760"/>
          </a:xfrm>
          <a:prstGeom prst="rect">
            <a:avLst/>
          </a:prstGeom>
          <a:noFill/>
          <a:ln/>
        </p:spPr>
        <p:txBody>
          <a:bodyPr wrap="square" lIns="0" tIns="0" rIns="0" bIns="0" rtlCol="0" anchor="ctr"/>
          <a:lstStyle/>
          <a:p>
            <a:pPr indent="0" marL="0">
              <a:buNone/>
            </a:pPr>
            <a:r>
              <a:rPr lang="en-US" sz="1800" b="1" dirty="0">
                <a:solidFill>
                  <a:srgbClr val="0E4A57"/>
                </a:solidFill>
              </a:rPr>
              <a:t>Documents</a:t>
            </a:r>
            <a:endParaRPr lang="en-US" sz="1800" dirty="0"/>
          </a:p>
        </p:txBody>
      </p:sp>
      <p:sp>
        <p:nvSpPr>
          <p:cNvPr id="5" name="Text 3"/>
          <p:cNvSpPr txBox="1"/>
          <p:nvPr/>
        </p:nvSpPr>
        <p:spPr>
          <a:xfrm>
            <a:off x="777240" y="1847088"/>
            <a:ext cx="4663440" cy="868680"/>
          </a:xfrm>
          <a:prstGeom prst="rect">
            <a:avLst/>
          </a:prstGeom>
          <a:noFill/>
          <a:ln/>
        </p:spPr>
        <p:txBody>
          <a:bodyPr wrap="square" lIns="0" tIns="0" rIns="0" bIns="0" rtlCol="0" anchor="t"/>
          <a:lstStyle/>
          <a:p>
            <a:pPr indent="0" marL="0">
              <a:buNone/>
            </a:pPr>
            <a:r>
              <a:rPr lang="en-US" sz="1400" dirty="0">
                <a:solidFill>
                  <a:srgbClr val="0B2530"/>
                </a:solidFill>
              </a:rPr>
              <a:t>17 handling procedures. Synapt builds the knowledge graph from them: 21 procedures, 93 ordered steps. Cited as evidence.</a:t>
            </a:r>
            <a:endParaRPr lang="en-US" sz="1400" dirty="0"/>
          </a:p>
        </p:txBody>
      </p:sp>
      <p:sp>
        <p:nvSpPr>
          <p:cNvPr id="6" name="Shape 4"/>
          <p:cNvSpPr/>
          <p:nvPr/>
        </p:nvSpPr>
        <p:spPr>
          <a:xfrm>
            <a:off x="548640" y="2926080"/>
            <a:ext cx="5120640" cy="1371600"/>
          </a:xfrm>
          <a:prstGeom prst="roundRect">
            <a:avLst>
              <a:gd name="adj" fmla="val 8000"/>
            </a:avLst>
          </a:prstGeom>
          <a:solidFill>
            <a:srgbClr val="FBE7E5"/>
          </a:solidFill>
          <a:ln w="12700">
            <a:solidFill>
              <a:srgbClr val="FBE7E5"/>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777240" y="3035808"/>
            <a:ext cx="2194560" cy="365760"/>
          </a:xfrm>
          <a:prstGeom prst="rect">
            <a:avLst/>
          </a:prstGeom>
          <a:noFill/>
          <a:ln/>
        </p:spPr>
        <p:txBody>
          <a:bodyPr wrap="square" lIns="0" tIns="0" rIns="0" bIns="0" rtlCol="0" anchor="ctr"/>
          <a:lstStyle/>
          <a:p>
            <a:pPr indent="0" marL="0">
              <a:buNone/>
            </a:pPr>
            <a:r>
              <a:rPr lang="en-US" sz="1800" b="1" dirty="0">
                <a:solidFill>
                  <a:srgbClr val="D9534F"/>
                </a:solidFill>
              </a:rPr>
              <a:t>Was wrong</a:t>
            </a:r>
            <a:endParaRPr lang="en-US" sz="1800" dirty="0"/>
          </a:p>
        </p:txBody>
      </p:sp>
      <p:sp>
        <p:nvSpPr>
          <p:cNvPr id="8" name="Text 6"/>
          <p:cNvSpPr txBox="1"/>
          <p:nvPr/>
        </p:nvSpPr>
        <p:spPr>
          <a:xfrm>
            <a:off x="777240" y="3401568"/>
            <a:ext cx="4663440" cy="868680"/>
          </a:xfrm>
          <a:prstGeom prst="rect">
            <a:avLst/>
          </a:prstGeom>
          <a:noFill/>
          <a:ln/>
        </p:spPr>
        <p:txBody>
          <a:bodyPr wrap="square" lIns="0" tIns="0" rIns="0" bIns="0" rtlCol="0" anchor="t"/>
          <a:lstStyle/>
          <a:p>
            <a:pPr indent="0" marL="0">
              <a:buNone/>
            </a:pPr>
            <a:r>
              <a:rPr lang="en-US" sz="1400" dirty="0">
                <a:solidFill>
                  <a:srgbClr val="0B2530"/>
                </a:solidFill>
              </a:rPr>
              <a:t>Claim rows were stored as text cards beside the procedures. Review feedback said the split was wrong, and the graph agreed.</a:t>
            </a:r>
            <a:endParaRPr lang="en-US" sz="1400" dirty="0"/>
          </a:p>
        </p:txBody>
      </p:sp>
      <p:sp>
        <p:nvSpPr>
          <p:cNvPr id="9" name="Shape 7"/>
          <p:cNvSpPr/>
          <p:nvPr/>
        </p:nvSpPr>
        <p:spPr>
          <a:xfrm>
            <a:off x="548640" y="4480560"/>
            <a:ext cx="5120640" cy="1371600"/>
          </a:xfrm>
          <a:prstGeom prst="roundRect">
            <a:avLst>
              <a:gd name="adj" fmla="val 8000"/>
            </a:avLst>
          </a:prstGeom>
          <a:solidFill>
            <a:srgbClr val="E6F4F1"/>
          </a:solidFill>
          <a:ln w="12700">
            <a:solidFill>
              <a:srgbClr val="E6F4F1"/>
            </a:solidFill>
            <a:prstDash val="solid"/>
          </a:ln>
          <a:effectLst>
            <a:outerShdw sx="100000" sy="100000" kx="0" ky="0" algn="bl" rotWithShape="0" blurRad="101600" dist="25400" dir="5400000">
              <a:srgbClr val="000000">
                <a:alpha val="12000"/>
              </a:srgbClr>
            </a:outerShdw>
          </a:effectLst>
        </p:spPr>
      </p:sp>
      <p:sp>
        <p:nvSpPr>
          <p:cNvPr id="10" name="Text 8"/>
          <p:cNvSpPr txBox="1"/>
          <p:nvPr/>
        </p:nvSpPr>
        <p:spPr>
          <a:xfrm>
            <a:off x="777240" y="4590288"/>
            <a:ext cx="2194560" cy="365760"/>
          </a:xfrm>
          <a:prstGeom prst="rect">
            <a:avLst/>
          </a:prstGeom>
          <a:noFill/>
          <a:ln/>
        </p:spPr>
        <p:txBody>
          <a:bodyPr wrap="square" lIns="0" tIns="0" rIns="0" bIns="0" rtlCol="0" anchor="ctr"/>
          <a:lstStyle/>
          <a:p>
            <a:pPr indent="0" marL="0">
              <a:buNone/>
            </a:pPr>
            <a:r>
              <a:rPr lang="en-US" sz="1800" b="1" dirty="0">
                <a:solidFill>
                  <a:srgbClr val="0E4A57"/>
                </a:solidFill>
              </a:rPr>
              <a:t>Tickets</a:t>
            </a:r>
            <a:endParaRPr lang="en-US" sz="1800" dirty="0"/>
          </a:p>
        </p:txBody>
      </p:sp>
      <p:sp>
        <p:nvSpPr>
          <p:cNvPr id="11" name="Text 9"/>
          <p:cNvSpPr txBox="1"/>
          <p:nvPr/>
        </p:nvSpPr>
        <p:spPr>
          <a:xfrm>
            <a:off x="777240" y="4956048"/>
            <a:ext cx="4663440" cy="868680"/>
          </a:xfrm>
          <a:prstGeom prst="rect">
            <a:avLst/>
          </a:prstGeom>
          <a:noFill/>
          <a:ln/>
        </p:spPr>
        <p:txBody>
          <a:bodyPr wrap="square" lIns="0" tIns="0" rIns="0" bIns="0" rtlCol="0" anchor="t"/>
          <a:lstStyle/>
          <a:p>
            <a:pPr indent="0" marL="0">
              <a:buNone/>
            </a:pPr>
            <a:r>
              <a:rPr lang="en-US" sz="1400" dirty="0">
                <a:solidFill>
                  <a:srgbClr val="0B2530"/>
                </a:solidFill>
              </a:rPr>
              <a:t>2,000 settled past claims in the ticket store. The claim is sent as one ticket; the closest past claims come back.</a:t>
            </a:r>
            <a:endParaRPr lang="en-US" sz="1400" dirty="0"/>
          </a:p>
        </p:txBody>
      </p:sp>
      <p:sp>
        <p:nvSpPr>
          <p:cNvPr id="12" name="Shape 10"/>
          <p:cNvSpPr/>
          <p:nvPr/>
        </p:nvSpPr>
        <p:spPr>
          <a:xfrm>
            <a:off x="5989320" y="1371600"/>
            <a:ext cx="5669280" cy="1188720"/>
          </a:xfrm>
          <a:prstGeom prst="roundRect">
            <a:avLst>
              <a:gd name="adj" fmla="val 9231"/>
            </a:avLst>
          </a:prstGeom>
          <a:solidFill>
            <a:srgbClr val="E6F4F1"/>
          </a:solidFill>
          <a:ln w="12700">
            <a:solidFill>
              <a:srgbClr val="E6F4F1"/>
            </a:solidFill>
            <a:prstDash val="solid"/>
          </a:ln>
          <a:effectLst>
            <a:outerShdw sx="100000" sy="100000" kx="0" ky="0" algn="bl" rotWithShape="0" blurRad="101600" dist="25400" dir="5400000">
              <a:srgbClr val="000000">
                <a:alpha val="12000"/>
              </a:srgbClr>
            </a:outerShdw>
          </a:effectLst>
        </p:spPr>
      </p:sp>
      <p:sp>
        <p:nvSpPr>
          <p:cNvPr id="13" name="Text 11"/>
          <p:cNvSpPr txBox="1"/>
          <p:nvPr/>
        </p:nvSpPr>
        <p:spPr>
          <a:xfrm>
            <a:off x="6217920" y="1481328"/>
            <a:ext cx="5212080" cy="594360"/>
          </a:xfrm>
          <a:prstGeom prst="rect">
            <a:avLst/>
          </a:prstGeom>
          <a:noFill/>
          <a:ln/>
        </p:spPr>
        <p:txBody>
          <a:bodyPr wrap="square" lIns="0" tIns="0" rIns="0" bIns="0" rtlCol="0" anchor="ctr"/>
          <a:lstStyle/>
          <a:p>
            <a:pPr indent="0" marL="0">
              <a:buNone/>
            </a:pPr>
            <a:r>
              <a:rPr lang="en-US" sz="3000" b="1" dirty="0">
                <a:solidFill>
                  <a:srgbClr val="0E4A57"/>
                </a:solidFill>
                <a:latin typeface="Cambria" pitchFamily="34" charset="0"/>
                <a:ea typeface="Cambria" pitchFamily="34" charset="-122"/>
                <a:cs typeface="Cambria" pitchFamily="34" charset="-120"/>
              </a:rPr>
              <a:t>99.6%</a:t>
            </a:r>
            <a:endParaRPr lang="en-US" sz="3000" dirty="0"/>
          </a:p>
        </p:txBody>
      </p:sp>
      <p:sp>
        <p:nvSpPr>
          <p:cNvPr id="14" name="Text 12"/>
          <p:cNvSpPr txBox="1"/>
          <p:nvPr/>
        </p:nvSpPr>
        <p:spPr>
          <a:xfrm>
            <a:off x="6217920" y="2084832"/>
            <a:ext cx="5212080" cy="365760"/>
          </a:xfrm>
          <a:prstGeom prst="rect">
            <a:avLst/>
          </a:prstGeom>
          <a:noFill/>
          <a:ln/>
        </p:spPr>
        <p:txBody>
          <a:bodyPr wrap="square" lIns="0" tIns="0" rIns="0" bIns="0" rtlCol="0" anchor="ctr"/>
          <a:lstStyle/>
          <a:p>
            <a:pPr indent="0" marL="0">
              <a:buNone/>
            </a:pPr>
            <a:r>
              <a:rPr lang="en-US" sz="1400" dirty="0">
                <a:solidFill>
                  <a:srgbClr val="5A6B73"/>
                </a:solidFill>
              </a:rPr>
              <a:t>of the provider's chunks were claim cards</a:t>
            </a:r>
            <a:endParaRPr lang="en-US" sz="1400" dirty="0"/>
          </a:p>
        </p:txBody>
      </p:sp>
      <p:sp>
        <p:nvSpPr>
          <p:cNvPr id="15" name="Shape 13"/>
          <p:cNvSpPr/>
          <p:nvPr/>
        </p:nvSpPr>
        <p:spPr>
          <a:xfrm>
            <a:off x="5989320" y="2743200"/>
            <a:ext cx="5669280" cy="1188720"/>
          </a:xfrm>
          <a:prstGeom prst="roundRect">
            <a:avLst>
              <a:gd name="adj" fmla="val 9231"/>
            </a:avLst>
          </a:prstGeom>
          <a:solidFill>
            <a:srgbClr val="E6F4F1"/>
          </a:solidFill>
          <a:ln w="12700">
            <a:solidFill>
              <a:srgbClr val="E6F4F1"/>
            </a:solidFill>
            <a:prstDash val="solid"/>
          </a:ln>
          <a:effectLst>
            <a:outerShdw sx="100000" sy="100000" kx="0" ky="0" algn="bl" rotWithShape="0" blurRad="101600" dist="25400" dir="5400000">
              <a:srgbClr val="000000">
                <a:alpha val="12000"/>
              </a:srgbClr>
            </a:outerShdw>
          </a:effectLst>
        </p:spPr>
      </p:sp>
      <p:sp>
        <p:nvSpPr>
          <p:cNvPr id="16" name="Text 14"/>
          <p:cNvSpPr txBox="1"/>
          <p:nvPr/>
        </p:nvSpPr>
        <p:spPr>
          <a:xfrm>
            <a:off x="6217920" y="2852928"/>
            <a:ext cx="5212080" cy="594360"/>
          </a:xfrm>
          <a:prstGeom prst="rect">
            <a:avLst/>
          </a:prstGeom>
          <a:noFill/>
          <a:ln/>
        </p:spPr>
        <p:txBody>
          <a:bodyPr wrap="square" lIns="0" tIns="0" rIns="0" bIns="0" rtlCol="0" anchor="ctr"/>
          <a:lstStyle/>
          <a:p>
            <a:pPr indent="0" marL="0">
              <a:buNone/>
            </a:pPr>
            <a:r>
              <a:rPr lang="en-US" sz="3000" b="1" dirty="0">
                <a:solidFill>
                  <a:srgbClr val="0E4A57"/>
                </a:solidFill>
                <a:latin typeface="Cambria" pitchFamily="34" charset="0"/>
                <a:ea typeface="Cambria" pitchFamily="34" charset="-122"/>
                <a:cs typeface="Cambria" pitchFamily="34" charset="-120"/>
              </a:rPr>
              <a:t>55 vs 135</a:t>
            </a:r>
            <a:endParaRPr lang="en-US" sz="3000" dirty="0"/>
          </a:p>
        </p:txBody>
      </p:sp>
      <p:sp>
        <p:nvSpPr>
          <p:cNvPr id="17" name="Text 15"/>
          <p:cNvSpPr txBox="1"/>
          <p:nvPr/>
        </p:nvSpPr>
        <p:spPr>
          <a:xfrm>
            <a:off x="6217920" y="3456432"/>
            <a:ext cx="5212080" cy="365760"/>
          </a:xfrm>
          <a:prstGeom prst="rect">
            <a:avLst/>
          </a:prstGeom>
          <a:noFill/>
          <a:ln/>
        </p:spPr>
        <p:txBody>
          <a:bodyPr wrap="square" lIns="0" tIns="0" rIns="0" bIns="0" rtlCol="0" anchor="ctr"/>
          <a:lstStyle/>
          <a:p>
            <a:pPr indent="0" marL="0">
              <a:buNone/>
            </a:pPr>
            <a:r>
              <a:rPr lang="en-US" sz="1400" dirty="0">
                <a:solidFill>
                  <a:srgbClr val="5A6B73"/>
                </a:solidFill>
              </a:rPr>
              <a:t>graph links: 10,020 card chunks vs 17 procedures</a:t>
            </a:r>
            <a:endParaRPr lang="en-US" sz="1400" dirty="0"/>
          </a:p>
        </p:txBody>
      </p:sp>
      <p:sp>
        <p:nvSpPr>
          <p:cNvPr id="18" name="Shape 16"/>
          <p:cNvSpPr/>
          <p:nvPr/>
        </p:nvSpPr>
        <p:spPr>
          <a:xfrm>
            <a:off x="5989320" y="4114800"/>
            <a:ext cx="5669280" cy="1188720"/>
          </a:xfrm>
          <a:prstGeom prst="roundRect">
            <a:avLst>
              <a:gd name="adj" fmla="val 9231"/>
            </a:avLst>
          </a:prstGeom>
          <a:solidFill>
            <a:srgbClr val="E6F4F1"/>
          </a:solidFill>
          <a:ln w="12700">
            <a:solidFill>
              <a:srgbClr val="E6F4F1"/>
            </a:solidFill>
            <a:prstDash val="solid"/>
          </a:ln>
          <a:effectLst>
            <a:outerShdw sx="100000" sy="100000" kx="0" ky="0" algn="bl" rotWithShape="0" blurRad="101600" dist="25400" dir="5400000">
              <a:srgbClr val="000000">
                <a:alpha val="12000"/>
              </a:srgbClr>
            </a:outerShdw>
          </a:effectLst>
        </p:spPr>
      </p:sp>
      <p:sp>
        <p:nvSpPr>
          <p:cNvPr id="19" name="Text 17"/>
          <p:cNvSpPr txBox="1"/>
          <p:nvPr/>
        </p:nvSpPr>
        <p:spPr>
          <a:xfrm>
            <a:off x="6217920" y="4224528"/>
            <a:ext cx="5212080" cy="594360"/>
          </a:xfrm>
          <a:prstGeom prst="rect">
            <a:avLst/>
          </a:prstGeom>
          <a:noFill/>
          <a:ln/>
        </p:spPr>
        <p:txBody>
          <a:bodyPr wrap="square" lIns="0" tIns="0" rIns="0" bIns="0" rtlCol="0" anchor="ctr"/>
          <a:lstStyle/>
          <a:p>
            <a:pPr indent="0" marL="0">
              <a:buNone/>
            </a:pPr>
            <a:r>
              <a:rPr lang="en-US" sz="3000" b="1" dirty="0">
                <a:solidFill>
                  <a:srgbClr val="0E4A57"/>
                </a:solidFill>
                <a:latin typeface="Cambria" pitchFamily="34" charset="0"/>
                <a:ea typeface="Cambria" pitchFamily="34" charset="-122"/>
                <a:cs typeface="Cambria" pitchFamily="34" charset="-120"/>
              </a:rPr>
              <a:t>13 Oct</a:t>
            </a:r>
            <a:endParaRPr lang="en-US" sz="3000" dirty="0"/>
          </a:p>
        </p:txBody>
      </p:sp>
      <p:sp>
        <p:nvSpPr>
          <p:cNvPr id="20" name="Text 18"/>
          <p:cNvSpPr txBox="1"/>
          <p:nvPr/>
        </p:nvSpPr>
        <p:spPr>
          <a:xfrm>
            <a:off x="6217920" y="4828032"/>
            <a:ext cx="5212080" cy="365760"/>
          </a:xfrm>
          <a:prstGeom prst="rect">
            <a:avLst/>
          </a:prstGeom>
          <a:noFill/>
          <a:ln/>
        </p:spPr>
        <p:txBody>
          <a:bodyPr wrap="square" lIns="0" tIns="0" rIns="0" bIns="0" rtlCol="0" anchor="ctr"/>
          <a:lstStyle/>
          <a:p>
            <a:pPr indent="0" marL="0">
              <a:buNone/>
            </a:pPr>
            <a:r>
              <a:rPr lang="en-US" sz="1400" dirty="0">
                <a:solidFill>
                  <a:srgbClr val="5A6B73"/>
                </a:solidFill>
              </a:rPr>
              <a:t>cards deleted; claims moved to the ticket store</a:t>
            </a:r>
            <a:endParaRPr lang="en-US" sz="1400" dirty="0"/>
          </a:p>
        </p:txBody>
      </p:sp>
      <p:sp>
        <p:nvSpPr>
          <p:cNvPr id="21" name="Text 19"/>
          <p:cNvSpPr txBox="1"/>
          <p:nvPr/>
        </p:nvSpPr>
        <p:spPr>
          <a:xfrm>
            <a:off x="5989320" y="5486400"/>
            <a:ext cx="5669280" cy="731520"/>
          </a:xfrm>
          <a:prstGeom prst="rect">
            <a:avLst/>
          </a:prstGeom>
          <a:noFill/>
          <a:ln/>
        </p:spPr>
        <p:txBody>
          <a:bodyPr wrap="square" lIns="0" tIns="0" rIns="0" bIns="0" rtlCol="0" anchor="t"/>
          <a:lstStyle/>
          <a:p>
            <a:pPr indent="0" marL="0">
              <a:buNone/>
            </a:pPr>
            <a:r>
              <a:rPr lang="en-US" sz="1400" i="1" dirty="0">
                <a:solidFill>
                  <a:srgbClr val="0E4A57"/>
                </a:solidFill>
              </a:rPr>
              <a:t>Ticket labels never beat the majority class on this data, so they are not shown; the past claims are used only to rank.</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B7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Live: an auto-theft claim, from intake to a reviewed lesson</a:t>
            </a:r>
            <a:endParaRPr lang="en-US" sz="3200" dirty="0"/>
          </a:p>
        </p:txBody>
      </p:sp>
      <p:sp>
        <p:nvSpPr>
          <p:cNvPr id="3" name="badge 1"/>
          <p:cNvSpPr/>
          <p:nvPr/>
        </p:nvSpPr>
        <p:spPr>
          <a:xfrm>
            <a:off x="548640" y="1371600"/>
            <a:ext cx="411480" cy="411480"/>
          </a:xfrm>
          <a:prstGeom prst="ellipse">
            <a:avLst/>
          </a:prstGeom>
          <a:solidFill>
            <a:srgbClr val="0E7C86"/>
          </a:solidFill>
          <a:ln w="12700">
            <a:solidFill>
              <a:srgbClr val="0E7C86"/>
            </a:solidFill>
            <a:prstDash val="solid"/>
          </a:ln>
        </p:spPr>
      </p:sp>
      <p:sp>
        <p:nvSpPr>
          <p:cNvPr id="4" name="Text 2"/>
          <p:cNvSpPr txBox="1"/>
          <p:nvPr/>
        </p:nvSpPr>
        <p:spPr>
          <a:xfrm>
            <a:off x="548640" y="137160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5" name="Text 3"/>
          <p:cNvSpPr txBox="1"/>
          <p:nvPr/>
        </p:nvSpPr>
        <p:spPr>
          <a:xfrm>
            <a:off x="1188720" y="1325880"/>
            <a:ext cx="4480560" cy="365760"/>
          </a:xfrm>
          <a:prstGeom prst="rect">
            <a:avLst/>
          </a:prstGeom>
          <a:noFill/>
          <a:ln/>
        </p:spPr>
        <p:txBody>
          <a:bodyPr wrap="square" lIns="0" tIns="0" rIns="0" bIns="0" rtlCol="0" anchor="ctr"/>
          <a:lstStyle/>
          <a:p>
            <a:pPr indent="0" marL="0">
              <a:buNone/>
            </a:pPr>
            <a:r>
              <a:rPr lang="en-US" sz="1800" b="1" dirty="0">
                <a:solidFill>
                  <a:srgbClr val="0B2530"/>
                </a:solidFill>
              </a:rPr>
              <a:t>Intake</a:t>
            </a:r>
            <a:endParaRPr lang="en-US" sz="1800" dirty="0"/>
          </a:p>
        </p:txBody>
      </p:sp>
      <p:sp>
        <p:nvSpPr>
          <p:cNvPr id="6" name="Text 4"/>
          <p:cNvSpPr txBox="1"/>
          <p:nvPr/>
        </p:nvSpPr>
        <p:spPr>
          <a:xfrm>
            <a:off x="1188720" y="1700784"/>
            <a:ext cx="4480560" cy="594360"/>
          </a:xfrm>
          <a:prstGeom prst="rect">
            <a:avLst/>
          </a:prstGeom>
          <a:noFill/>
          <a:ln/>
        </p:spPr>
        <p:txBody>
          <a:bodyPr wrap="square" lIns="0" tIns="0" rIns="0" bIns="0" rtlCol="0" anchor="t"/>
          <a:lstStyle/>
          <a:p>
            <a:pPr indent="0" marL="0">
              <a:buNone/>
            </a:pPr>
            <a:r>
              <a:rPr lang="en-US" sz="1400" dirty="0">
                <a:solidFill>
                  <a:srgbClr val="5A6B73"/>
                </a:solidFill>
              </a:rPr>
              <a:t>Pick the example, or type a claim. Invalid input is refused with a clear reason.</a:t>
            </a:r>
            <a:endParaRPr lang="en-US" sz="1400" dirty="0"/>
          </a:p>
        </p:txBody>
      </p:sp>
      <p:sp>
        <p:nvSpPr>
          <p:cNvPr id="7" name="badge 2"/>
          <p:cNvSpPr/>
          <p:nvPr/>
        </p:nvSpPr>
        <p:spPr>
          <a:xfrm>
            <a:off x="548640" y="2350008"/>
            <a:ext cx="411480" cy="411480"/>
          </a:xfrm>
          <a:prstGeom prst="ellipse">
            <a:avLst/>
          </a:prstGeom>
          <a:solidFill>
            <a:srgbClr val="0E7C86"/>
          </a:solidFill>
          <a:ln w="12700">
            <a:solidFill>
              <a:srgbClr val="0E7C86"/>
            </a:solidFill>
            <a:prstDash val="solid"/>
          </a:ln>
        </p:spPr>
      </p:sp>
      <p:sp>
        <p:nvSpPr>
          <p:cNvPr id="8" name="Text 6"/>
          <p:cNvSpPr txBox="1"/>
          <p:nvPr/>
        </p:nvSpPr>
        <p:spPr>
          <a:xfrm>
            <a:off x="548640" y="2350008"/>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9" name="Text 7"/>
          <p:cNvSpPr txBox="1"/>
          <p:nvPr/>
        </p:nvSpPr>
        <p:spPr>
          <a:xfrm>
            <a:off x="1188720" y="2304288"/>
            <a:ext cx="4480560" cy="365760"/>
          </a:xfrm>
          <a:prstGeom prst="rect">
            <a:avLst/>
          </a:prstGeom>
          <a:noFill/>
          <a:ln/>
        </p:spPr>
        <p:txBody>
          <a:bodyPr wrap="square" lIns="0" tIns="0" rIns="0" bIns="0" rtlCol="0" anchor="ctr"/>
          <a:lstStyle/>
          <a:p>
            <a:pPr indent="0" marL="0">
              <a:buNone/>
            </a:pPr>
            <a:r>
              <a:rPr lang="en-US" sz="1800" b="1" dirty="0">
                <a:solidFill>
                  <a:srgbClr val="0B2530"/>
                </a:solidFill>
              </a:rPr>
              <a:t>Brief in about 15 s</a:t>
            </a:r>
            <a:endParaRPr lang="en-US" sz="1800" dirty="0"/>
          </a:p>
        </p:txBody>
      </p:sp>
      <p:sp>
        <p:nvSpPr>
          <p:cNvPr id="10" name="Text 8"/>
          <p:cNvSpPr txBox="1"/>
          <p:nvPr/>
        </p:nvSpPr>
        <p:spPr>
          <a:xfrm>
            <a:off x="1188720" y="2679192"/>
            <a:ext cx="4480560" cy="594360"/>
          </a:xfrm>
          <a:prstGeom prst="rect">
            <a:avLst/>
          </a:prstGeom>
          <a:noFill/>
          <a:ln/>
        </p:spPr>
        <p:txBody>
          <a:bodyPr wrap="square" lIns="0" tIns="0" rIns="0" bIns="0" rtlCol="0" anchor="t"/>
          <a:lstStyle/>
          <a:p>
            <a:pPr indent="0" marL="0">
              <a:buNone/>
            </a:pPr>
            <a:r>
              <a:rPr lang="en-US" sz="1400" dirty="0">
                <a:solidFill>
                  <a:srgbClr val="5A6B73"/>
                </a:solidFill>
              </a:rPr>
              <a:t>Cited gap: a police report, from a Synapt procedure. Documents are only ever 'reported available'.</a:t>
            </a:r>
            <a:endParaRPr lang="en-US" sz="1400" dirty="0"/>
          </a:p>
        </p:txBody>
      </p:sp>
      <p:sp>
        <p:nvSpPr>
          <p:cNvPr id="11" name="badge 3"/>
          <p:cNvSpPr/>
          <p:nvPr/>
        </p:nvSpPr>
        <p:spPr>
          <a:xfrm>
            <a:off x="548640" y="3328416"/>
            <a:ext cx="411480" cy="411480"/>
          </a:xfrm>
          <a:prstGeom prst="ellipse">
            <a:avLst/>
          </a:prstGeom>
          <a:solidFill>
            <a:srgbClr val="0E7C86"/>
          </a:solidFill>
          <a:ln w="12700">
            <a:solidFill>
              <a:srgbClr val="0E7C86"/>
            </a:solidFill>
            <a:prstDash val="solid"/>
          </a:ln>
        </p:spPr>
      </p:sp>
      <p:sp>
        <p:nvSpPr>
          <p:cNvPr id="12" name="Text 10"/>
          <p:cNvSpPr txBox="1"/>
          <p:nvPr/>
        </p:nvSpPr>
        <p:spPr>
          <a:xfrm>
            <a:off x="548640" y="3328416"/>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3" name="Text 11"/>
          <p:cNvSpPr txBox="1"/>
          <p:nvPr/>
        </p:nvSpPr>
        <p:spPr>
          <a:xfrm>
            <a:off x="1188720" y="3282696"/>
            <a:ext cx="4480560" cy="365760"/>
          </a:xfrm>
          <a:prstGeom prst="rect">
            <a:avLst/>
          </a:prstGeom>
          <a:noFill/>
          <a:ln/>
        </p:spPr>
        <p:txBody>
          <a:bodyPr wrap="square" lIns="0" tIns="0" rIns="0" bIns="0" rtlCol="0" anchor="ctr"/>
          <a:lstStyle/>
          <a:p>
            <a:pPr indent="0" marL="0">
              <a:buNone/>
            </a:pPr>
            <a:r>
              <a:rPr lang="en-US" sz="1800" b="1" dirty="0">
                <a:solidFill>
                  <a:srgbClr val="0B2530"/>
                </a:solidFill>
              </a:rPr>
              <a:t>Priority 55 of 100, High</a:t>
            </a:r>
            <a:endParaRPr lang="en-US" sz="1800" dirty="0"/>
          </a:p>
        </p:txBody>
      </p:sp>
      <p:sp>
        <p:nvSpPr>
          <p:cNvPr id="14" name="Text 12"/>
          <p:cNvSpPr txBox="1"/>
          <p:nvPr/>
        </p:nvSpPr>
        <p:spPr>
          <a:xfrm>
            <a:off x="1188720" y="3657600"/>
            <a:ext cx="4480560" cy="594360"/>
          </a:xfrm>
          <a:prstGeom prst="rect">
            <a:avLst/>
          </a:prstGeom>
          <a:noFill/>
          <a:ln/>
        </p:spPr>
        <p:txBody>
          <a:bodyPr wrap="square" lIns="0" tIns="0" rIns="0" bIns="0" rtlCol="0" anchor="t"/>
          <a:lstStyle/>
          <a:p>
            <a:pPr indent="0" marL="0">
              <a:buNone/>
            </a:pPr>
            <a:r>
              <a:rPr lang="en-US" sz="1400" dirty="0">
                <a:solidFill>
                  <a:srgbClr val="5A6B73"/>
                </a:solidFill>
              </a:rPr>
              <a:t>Each point attributed: amount, 17-day delay, 3 prior claims, a gap, the fraud signal.</a:t>
            </a:r>
            <a:endParaRPr lang="en-US" sz="1400" dirty="0"/>
          </a:p>
        </p:txBody>
      </p:sp>
      <p:sp>
        <p:nvSpPr>
          <p:cNvPr id="15" name="badge 4"/>
          <p:cNvSpPr/>
          <p:nvPr/>
        </p:nvSpPr>
        <p:spPr>
          <a:xfrm>
            <a:off x="548640" y="4306824"/>
            <a:ext cx="411480" cy="411480"/>
          </a:xfrm>
          <a:prstGeom prst="ellipse">
            <a:avLst/>
          </a:prstGeom>
          <a:solidFill>
            <a:srgbClr val="0E7C86"/>
          </a:solidFill>
          <a:ln w="12700">
            <a:solidFill>
              <a:srgbClr val="0E7C86"/>
            </a:solidFill>
            <a:prstDash val="solid"/>
          </a:ln>
        </p:spPr>
      </p:sp>
      <p:sp>
        <p:nvSpPr>
          <p:cNvPr id="16" name="Text 14"/>
          <p:cNvSpPr txBox="1"/>
          <p:nvPr/>
        </p:nvSpPr>
        <p:spPr>
          <a:xfrm>
            <a:off x="548640" y="4306824"/>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17" name="Text 15"/>
          <p:cNvSpPr txBox="1"/>
          <p:nvPr/>
        </p:nvSpPr>
        <p:spPr>
          <a:xfrm>
            <a:off x="1188720" y="4261104"/>
            <a:ext cx="4480560" cy="365760"/>
          </a:xfrm>
          <a:prstGeom prst="rect">
            <a:avLst/>
          </a:prstGeom>
          <a:noFill/>
          <a:ln/>
        </p:spPr>
        <p:txBody>
          <a:bodyPr wrap="square" lIns="0" tIns="0" rIns="0" bIns="0" rtlCol="0" anchor="ctr"/>
          <a:lstStyle/>
          <a:p>
            <a:pPr indent="0" marL="0">
              <a:buNone/>
            </a:pPr>
            <a:r>
              <a:rPr lang="en-US" sz="1800" b="1" dirty="0">
                <a:solidFill>
                  <a:srgbClr val="0B2530"/>
                </a:solidFill>
              </a:rPr>
              <a:t>Independent review</a:t>
            </a:r>
            <a:endParaRPr lang="en-US" sz="1800" dirty="0"/>
          </a:p>
        </p:txBody>
      </p:sp>
      <p:sp>
        <p:nvSpPr>
          <p:cNvPr id="18" name="Text 16"/>
          <p:cNvSpPr txBox="1"/>
          <p:nvPr/>
        </p:nvSpPr>
        <p:spPr>
          <a:xfrm>
            <a:off x="1188720" y="4636008"/>
            <a:ext cx="4480560" cy="594360"/>
          </a:xfrm>
          <a:prstGeom prst="rect">
            <a:avLst/>
          </a:prstGeom>
          <a:noFill/>
          <a:ln/>
        </p:spPr>
        <p:txBody>
          <a:bodyPr wrap="square" lIns="0" tIns="0" rIns="0" bIns="0" rtlCol="0" anchor="t"/>
          <a:lstStyle/>
          <a:p>
            <a:pPr indent="0" marL="0">
              <a:buNone/>
            </a:pPr>
            <a:r>
              <a:rPr lang="en-US" sz="1400" dirty="0">
                <a:solidFill>
                  <a:srgbClr val="5A6B73"/>
                </a:solidFill>
              </a:rPr>
              <a:t>A second model judges the brief in the background and appears when ready.</a:t>
            </a:r>
            <a:endParaRPr lang="en-US" sz="1400" dirty="0"/>
          </a:p>
        </p:txBody>
      </p:sp>
      <p:sp>
        <p:nvSpPr>
          <p:cNvPr id="19" name="badge 5"/>
          <p:cNvSpPr/>
          <p:nvPr/>
        </p:nvSpPr>
        <p:spPr>
          <a:xfrm>
            <a:off x="548640" y="5285232"/>
            <a:ext cx="411480" cy="411480"/>
          </a:xfrm>
          <a:prstGeom prst="ellipse">
            <a:avLst/>
          </a:prstGeom>
          <a:solidFill>
            <a:srgbClr val="F2A93B"/>
          </a:solidFill>
          <a:ln w="12700">
            <a:solidFill>
              <a:srgbClr val="F2A93B"/>
            </a:solidFill>
            <a:prstDash val="solid"/>
          </a:ln>
        </p:spPr>
      </p:sp>
      <p:sp>
        <p:nvSpPr>
          <p:cNvPr id="20" name="Text 18"/>
          <p:cNvSpPr txBox="1"/>
          <p:nvPr/>
        </p:nvSpPr>
        <p:spPr>
          <a:xfrm>
            <a:off x="548640" y="5285232"/>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21" name="Text 19"/>
          <p:cNvSpPr txBox="1"/>
          <p:nvPr/>
        </p:nvSpPr>
        <p:spPr>
          <a:xfrm>
            <a:off x="1188720" y="5239512"/>
            <a:ext cx="4480560" cy="365760"/>
          </a:xfrm>
          <a:prstGeom prst="rect">
            <a:avLst/>
          </a:prstGeom>
          <a:noFill/>
          <a:ln/>
        </p:spPr>
        <p:txBody>
          <a:bodyPr wrap="square" lIns="0" tIns="0" rIns="0" bIns="0" rtlCol="0" anchor="ctr"/>
          <a:lstStyle/>
          <a:p>
            <a:pPr indent="0" marL="0">
              <a:buNone/>
            </a:pPr>
            <a:r>
              <a:rPr lang="en-US" sz="1800" b="1" dirty="0">
                <a:solidFill>
                  <a:srgbClr val="0B2530"/>
                </a:solidFill>
              </a:rPr>
              <a:t>Review, feedback, promote</a:t>
            </a:r>
            <a:endParaRPr lang="en-US" sz="1800" dirty="0"/>
          </a:p>
        </p:txBody>
      </p:sp>
      <p:sp>
        <p:nvSpPr>
          <p:cNvPr id="22" name="Text 20"/>
          <p:cNvSpPr txBox="1"/>
          <p:nvPr/>
        </p:nvSpPr>
        <p:spPr>
          <a:xfrm>
            <a:off x="1188720" y="5614416"/>
            <a:ext cx="4480560" cy="594360"/>
          </a:xfrm>
          <a:prstGeom prst="rect">
            <a:avLst/>
          </a:prstGeom>
          <a:noFill/>
          <a:ln/>
        </p:spPr>
        <p:txBody>
          <a:bodyPr wrap="square" lIns="0" tIns="0" rIns="0" bIns="0" rtlCol="0" anchor="t"/>
          <a:lstStyle/>
          <a:p>
            <a:pPr indent="0" marL="0">
              <a:buNone/>
            </a:pPr>
            <a:r>
              <a:rPr lang="en-US" sz="1400" dirty="0">
                <a:solidFill>
                  <a:srgbClr val="5A6B73"/>
                </a:solidFill>
              </a:rPr>
              <a:t>Accepted lessons become cited evidence next time, and are ingested into Synapt.</a:t>
            </a:r>
            <a:endParaRPr lang="en-US" sz="1400" dirty="0"/>
          </a:p>
        </p:txBody>
      </p:sp>
      <p:pic>
        <p:nvPicPr>
          <p:cNvPr id="23" name="Live screenshot: priority and independent review" descr="Handling priority High 55 of 100 with five attributed factors, and an independent review reporting no concerns">    </p:cNvPr>
          <p:cNvPicPr>
            <a:picLocks noChangeAspect="1"/>
          </p:cNvPicPr>
          <p:nvPr/>
        </p:nvPicPr>
        <p:blipFill>
          <a:blip r:embed="rId1"/>
          <a:stretch>
            <a:fillRect/>
          </a:stretch>
        </p:blipFill>
        <p:spPr>
          <a:xfrm>
            <a:off x="6355080" y="1371600"/>
            <a:ext cx="5285232" cy="4800600"/>
          </a:xfrm>
          <a:prstGeom prst="rect">
            <a:avLst/>
          </a:prstGeom>
        </p:spPr>
      </p:pic>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B7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Predictions a handler can interrogate</a:t>
            </a:r>
            <a:endParaRPr lang="en-US" sz="3200" dirty="0"/>
          </a:p>
        </p:txBody>
      </p:sp>
      <p:sp>
        <p:nvSpPr>
          <p:cNvPr id="3" name="Shape 1"/>
          <p:cNvSpPr/>
          <p:nvPr/>
        </p:nvSpPr>
        <p:spPr>
          <a:xfrm>
            <a:off x="548640" y="1371600"/>
            <a:ext cx="3483864" cy="2148840"/>
          </a:xfrm>
          <a:prstGeom prst="roundRect">
            <a:avLst>
              <a:gd name="adj" fmla="val 5106"/>
            </a:avLst>
          </a:prstGeom>
          <a:solidFill>
            <a:srgbClr val="E6F4F1"/>
          </a:solidFill>
          <a:ln w="12700">
            <a:solidFill>
              <a:srgbClr val="E6F4F1"/>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822960" y="1481328"/>
            <a:ext cx="2926080" cy="365760"/>
          </a:xfrm>
          <a:prstGeom prst="rect">
            <a:avLst/>
          </a:prstGeom>
          <a:noFill/>
          <a:ln/>
        </p:spPr>
        <p:txBody>
          <a:bodyPr wrap="square" lIns="0" tIns="0" rIns="0" bIns="0" rtlCol="0" anchor="ctr"/>
          <a:lstStyle/>
          <a:p>
            <a:pPr indent="0" marL="0">
              <a:buNone/>
            </a:pPr>
            <a:r>
              <a:rPr lang="en-US" sz="1600" b="1" dirty="0">
                <a:solidFill>
                  <a:srgbClr val="0E7C86"/>
                </a:solidFill>
              </a:rPr>
              <a:t>Amount</a:t>
            </a:r>
            <a:endParaRPr lang="en-US" sz="1600" dirty="0"/>
          </a:p>
        </p:txBody>
      </p:sp>
      <p:sp>
        <p:nvSpPr>
          <p:cNvPr id="5" name="Text 3"/>
          <p:cNvSpPr txBox="1"/>
          <p:nvPr/>
        </p:nvSpPr>
        <p:spPr>
          <a:xfrm>
            <a:off x="822960" y="1874520"/>
            <a:ext cx="3017520" cy="640080"/>
          </a:xfrm>
          <a:prstGeom prst="rect">
            <a:avLst/>
          </a:prstGeom>
          <a:noFill/>
          <a:ln/>
        </p:spPr>
        <p:txBody>
          <a:bodyPr wrap="square" lIns="0" tIns="0" rIns="0" bIns="0" rtlCol="0" anchor="ctr"/>
          <a:lstStyle/>
          <a:p>
            <a:pPr indent="0" marL="0">
              <a:buNone/>
            </a:pPr>
            <a:r>
              <a:rPr lang="en-US" sz="2800" b="1" dirty="0">
                <a:solidFill>
                  <a:srgbClr val="0B2530"/>
                </a:solidFill>
                <a:latin typeface="Cambria" pitchFamily="34" charset="0"/>
                <a:ea typeface="Cambria" pitchFamily="34" charset="-122"/>
                <a:cs typeface="Cambria" pitchFamily="34" charset="-120"/>
              </a:rPr>
              <a:t>28% lower error</a:t>
            </a:r>
            <a:endParaRPr lang="en-US" sz="2800" dirty="0"/>
          </a:p>
        </p:txBody>
      </p:sp>
      <p:sp>
        <p:nvSpPr>
          <p:cNvPr id="6" name="Text 4"/>
          <p:cNvSpPr txBox="1"/>
          <p:nvPr/>
        </p:nvSpPr>
        <p:spPr>
          <a:xfrm>
            <a:off x="822960" y="2560320"/>
            <a:ext cx="2971800" cy="868680"/>
          </a:xfrm>
          <a:prstGeom prst="rect">
            <a:avLst/>
          </a:prstGeom>
          <a:noFill/>
          <a:ln/>
        </p:spPr>
        <p:txBody>
          <a:bodyPr wrap="square" lIns="0" tIns="0" rIns="0" bIns="0" rtlCol="0" anchor="t"/>
          <a:lstStyle/>
          <a:p>
            <a:pPr indent="0" marL="0">
              <a:buNone/>
            </a:pPr>
            <a:r>
              <a:rPr lang="en-US" sz="1400" dirty="0">
                <a:solidFill>
                  <a:srgbClr val="5A6B73"/>
                </a:solidFill>
              </a:rPr>
              <a:t>MAE $16,072 vs $22,364 baseline. The 90% interval covers 90.1%.</a:t>
            </a:r>
            <a:endParaRPr lang="en-US" sz="1400" dirty="0"/>
          </a:p>
        </p:txBody>
      </p:sp>
      <p:sp>
        <p:nvSpPr>
          <p:cNvPr id="7" name="Shape 5"/>
          <p:cNvSpPr/>
          <p:nvPr/>
        </p:nvSpPr>
        <p:spPr>
          <a:xfrm>
            <a:off x="4352544" y="1371600"/>
            <a:ext cx="3483864" cy="2148840"/>
          </a:xfrm>
          <a:prstGeom prst="roundRect">
            <a:avLst>
              <a:gd name="adj" fmla="val 5106"/>
            </a:avLst>
          </a:prstGeom>
          <a:solidFill>
            <a:srgbClr val="E6F4F1"/>
          </a:solidFill>
          <a:ln w="12700">
            <a:solidFill>
              <a:srgbClr val="E6F4F1"/>
            </a:solidFill>
            <a:prstDash val="solid"/>
          </a:ln>
          <a:effectLst>
            <a:outerShdw sx="100000" sy="100000" kx="0" ky="0" algn="bl" rotWithShape="0" blurRad="101600" dist="25400" dir="5400000">
              <a:srgbClr val="000000">
                <a:alpha val="12000"/>
              </a:srgbClr>
            </a:outerShdw>
          </a:effectLst>
        </p:spPr>
      </p:sp>
      <p:sp>
        <p:nvSpPr>
          <p:cNvPr id="8" name="Text 6"/>
          <p:cNvSpPr txBox="1"/>
          <p:nvPr/>
        </p:nvSpPr>
        <p:spPr>
          <a:xfrm>
            <a:off x="4626864" y="1481328"/>
            <a:ext cx="2926080" cy="365760"/>
          </a:xfrm>
          <a:prstGeom prst="rect">
            <a:avLst/>
          </a:prstGeom>
          <a:noFill/>
          <a:ln/>
        </p:spPr>
        <p:txBody>
          <a:bodyPr wrap="square" lIns="0" tIns="0" rIns="0" bIns="0" rtlCol="0" anchor="ctr"/>
          <a:lstStyle/>
          <a:p>
            <a:pPr indent="0" marL="0">
              <a:buNone/>
            </a:pPr>
            <a:r>
              <a:rPr lang="en-US" sz="1600" b="1" dirty="0">
                <a:solidFill>
                  <a:srgbClr val="0E7C86"/>
                </a:solidFill>
              </a:rPr>
              <a:t>Resolution time</a:t>
            </a:r>
            <a:endParaRPr lang="en-US" sz="1600" dirty="0"/>
          </a:p>
        </p:txBody>
      </p:sp>
      <p:sp>
        <p:nvSpPr>
          <p:cNvPr id="9" name="Text 7"/>
          <p:cNvSpPr txBox="1"/>
          <p:nvPr/>
        </p:nvSpPr>
        <p:spPr>
          <a:xfrm>
            <a:off x="4626864" y="1874520"/>
            <a:ext cx="3017520" cy="640080"/>
          </a:xfrm>
          <a:prstGeom prst="rect">
            <a:avLst/>
          </a:prstGeom>
          <a:noFill/>
          <a:ln/>
        </p:spPr>
        <p:txBody>
          <a:bodyPr wrap="square" lIns="0" tIns="0" rIns="0" bIns="0" rtlCol="0" anchor="ctr"/>
          <a:lstStyle/>
          <a:p>
            <a:pPr indent="0" marL="0">
              <a:buNone/>
            </a:pPr>
            <a:r>
              <a:rPr lang="en-US" sz="2800" b="1" dirty="0">
                <a:solidFill>
                  <a:srgbClr val="0B2530"/>
                </a:solidFill>
                <a:latin typeface="Cambria" pitchFamily="34" charset="0"/>
                <a:ea typeface="Cambria" pitchFamily="34" charset="-122"/>
                <a:cs typeface="Cambria" pitchFamily="34" charset="-120"/>
              </a:rPr>
              <a:t>9% lower error</a:t>
            </a:r>
            <a:endParaRPr lang="en-US" sz="2800" dirty="0"/>
          </a:p>
        </p:txBody>
      </p:sp>
      <p:sp>
        <p:nvSpPr>
          <p:cNvPr id="10" name="Text 8"/>
          <p:cNvSpPr txBox="1"/>
          <p:nvPr/>
        </p:nvSpPr>
        <p:spPr>
          <a:xfrm>
            <a:off x="4626864" y="2560320"/>
            <a:ext cx="2971800" cy="868680"/>
          </a:xfrm>
          <a:prstGeom prst="rect">
            <a:avLst/>
          </a:prstGeom>
          <a:noFill/>
          <a:ln/>
        </p:spPr>
        <p:txBody>
          <a:bodyPr wrap="square" lIns="0" tIns="0" rIns="0" bIns="0" rtlCol="0" anchor="t"/>
          <a:lstStyle/>
          <a:p>
            <a:pPr indent="0" marL="0">
              <a:buNone/>
            </a:pPr>
            <a:r>
              <a:rPr lang="en-US" sz="1400" dirty="0">
                <a:solidFill>
                  <a:srgbClr val="5A6B73"/>
                </a:solidFill>
              </a:rPr>
              <a:t>MAE 6.58 vs 7.22 days. Interval covers 89.8%.</a:t>
            </a:r>
            <a:endParaRPr lang="en-US" sz="1400" dirty="0"/>
          </a:p>
        </p:txBody>
      </p:sp>
      <p:sp>
        <p:nvSpPr>
          <p:cNvPr id="11" name="Shape 9"/>
          <p:cNvSpPr/>
          <p:nvPr/>
        </p:nvSpPr>
        <p:spPr>
          <a:xfrm>
            <a:off x="8156448" y="1371600"/>
            <a:ext cx="3483864" cy="2148840"/>
          </a:xfrm>
          <a:prstGeom prst="roundRect">
            <a:avLst>
              <a:gd name="adj" fmla="val 5106"/>
            </a:avLst>
          </a:prstGeom>
          <a:solidFill>
            <a:srgbClr val="E6F4F1"/>
          </a:solidFill>
          <a:ln w="12700">
            <a:solidFill>
              <a:srgbClr val="E6F4F1"/>
            </a:solidFill>
            <a:prstDash val="solid"/>
          </a:ln>
          <a:effectLst>
            <a:outerShdw sx="100000" sy="100000" kx="0" ky="0" algn="bl" rotWithShape="0" blurRad="101600" dist="25400" dir="5400000">
              <a:srgbClr val="000000">
                <a:alpha val="12000"/>
              </a:srgbClr>
            </a:outerShdw>
          </a:effectLst>
        </p:spPr>
      </p:sp>
      <p:sp>
        <p:nvSpPr>
          <p:cNvPr id="12" name="Text 10"/>
          <p:cNvSpPr txBox="1"/>
          <p:nvPr/>
        </p:nvSpPr>
        <p:spPr>
          <a:xfrm>
            <a:off x="8430768" y="1481328"/>
            <a:ext cx="2926080" cy="365760"/>
          </a:xfrm>
          <a:prstGeom prst="rect">
            <a:avLst/>
          </a:prstGeom>
          <a:noFill/>
          <a:ln/>
        </p:spPr>
        <p:txBody>
          <a:bodyPr wrap="square" lIns="0" tIns="0" rIns="0" bIns="0" rtlCol="0" anchor="ctr"/>
          <a:lstStyle/>
          <a:p>
            <a:pPr indent="0" marL="0">
              <a:buNone/>
            </a:pPr>
            <a:r>
              <a:rPr lang="en-US" sz="1600" b="1" dirty="0">
                <a:solidFill>
                  <a:srgbClr val="0E7C86"/>
                </a:solidFill>
              </a:rPr>
              <a:t>Fraud flag</a:t>
            </a:r>
            <a:endParaRPr lang="en-US" sz="1600" dirty="0"/>
          </a:p>
        </p:txBody>
      </p:sp>
      <p:sp>
        <p:nvSpPr>
          <p:cNvPr id="13" name="Text 11"/>
          <p:cNvSpPr txBox="1"/>
          <p:nvPr/>
        </p:nvSpPr>
        <p:spPr>
          <a:xfrm>
            <a:off x="8430768" y="1874520"/>
            <a:ext cx="3017520" cy="640080"/>
          </a:xfrm>
          <a:prstGeom prst="rect">
            <a:avLst/>
          </a:prstGeom>
          <a:noFill/>
          <a:ln/>
        </p:spPr>
        <p:txBody>
          <a:bodyPr wrap="square" lIns="0" tIns="0" rIns="0" bIns="0" rtlCol="0" anchor="ctr"/>
          <a:lstStyle/>
          <a:p>
            <a:pPr indent="0" marL="0">
              <a:buNone/>
            </a:pPr>
            <a:r>
              <a:rPr lang="en-US" sz="2800" b="1" dirty="0">
                <a:solidFill>
                  <a:srgbClr val="0B2530"/>
                </a:solidFill>
                <a:latin typeface="Cambria" pitchFamily="34" charset="0"/>
                <a:ea typeface="Cambria" pitchFamily="34" charset="-122"/>
                <a:cs typeface="Cambria" pitchFamily="34" charset="-120"/>
              </a:rPr>
              <a:t>4x the baseline</a:t>
            </a:r>
            <a:endParaRPr lang="en-US" sz="2800" dirty="0"/>
          </a:p>
        </p:txBody>
      </p:sp>
      <p:sp>
        <p:nvSpPr>
          <p:cNvPr id="14" name="Text 12"/>
          <p:cNvSpPr txBox="1"/>
          <p:nvPr/>
        </p:nvSpPr>
        <p:spPr>
          <a:xfrm>
            <a:off x="8430768" y="2560320"/>
            <a:ext cx="2971800" cy="868680"/>
          </a:xfrm>
          <a:prstGeom prst="rect">
            <a:avLst/>
          </a:prstGeom>
          <a:noFill/>
          <a:ln/>
        </p:spPr>
        <p:txBody>
          <a:bodyPr wrap="square" lIns="0" tIns="0" rIns="0" bIns="0" rtlCol="0" anchor="t"/>
          <a:lstStyle/>
          <a:p>
            <a:pPr indent="0" marL="0">
              <a:buNone/>
            </a:pPr>
            <a:r>
              <a:rPr lang="en-US" sz="1400" dirty="0">
                <a:solidFill>
                  <a:srgbClr val="5A6B73"/>
                </a:solidFill>
              </a:rPr>
              <a:t>PR-AUC 0.32 vs 0.08; precision 56%, recall 31%.</a:t>
            </a:r>
            <a:endParaRPr lang="en-US" sz="1400" dirty="0"/>
          </a:p>
        </p:txBody>
      </p:sp>
      <p:sp>
        <p:nvSpPr>
          <p:cNvPr id="15" name="Text 13"/>
          <p:cNvSpPr txBox="1"/>
          <p:nvPr/>
        </p:nvSpPr>
        <p:spPr>
          <a:xfrm>
            <a:off x="548640" y="3749040"/>
            <a:ext cx="11064240" cy="411480"/>
          </a:xfrm>
          <a:prstGeom prst="rect">
            <a:avLst/>
          </a:prstGeom>
          <a:noFill/>
          <a:ln/>
        </p:spPr>
        <p:txBody>
          <a:bodyPr wrap="square" lIns="0" tIns="0" rIns="0" bIns="0" rtlCol="0" anchor="ctr"/>
          <a:lstStyle/>
          <a:p>
            <a:pPr indent="0" marL="0">
              <a:buNone/>
            </a:pPr>
            <a:r>
              <a:rPr lang="en-US" sz="2000" b="1" dirty="0">
                <a:solidFill>
                  <a:srgbClr val="0B2530"/>
                </a:solidFill>
              </a:rPr>
              <a:t>Why this estimate: what the models learned, and what moved this claim</a:t>
            </a:r>
            <a:endParaRPr lang="en-US" sz="2000" dirty="0"/>
          </a:p>
        </p:txBody>
      </p:sp>
      <p:sp>
        <p:nvSpPr>
          <p:cNvPr id="16" name="Shape 14"/>
          <p:cNvSpPr/>
          <p:nvPr/>
        </p:nvSpPr>
        <p:spPr>
          <a:xfrm>
            <a:off x="594360" y="4370832"/>
            <a:ext cx="128016" cy="128016"/>
          </a:xfrm>
          <a:prstGeom prst="ellipse">
            <a:avLst/>
          </a:prstGeom>
          <a:solidFill>
            <a:srgbClr val="0E7C86"/>
          </a:solidFill>
          <a:ln w="12700">
            <a:solidFill>
              <a:srgbClr val="0E7C86"/>
            </a:solidFill>
            <a:prstDash val="solid"/>
          </a:ln>
        </p:spPr>
      </p:sp>
      <p:sp>
        <p:nvSpPr>
          <p:cNvPr id="17" name="Text 15"/>
          <p:cNvSpPr txBox="1"/>
          <p:nvPr/>
        </p:nvSpPr>
        <p:spPr>
          <a:xfrm>
            <a:off x="868680" y="4251960"/>
            <a:ext cx="10698480" cy="411480"/>
          </a:xfrm>
          <a:prstGeom prst="rect">
            <a:avLst/>
          </a:prstGeom>
          <a:noFill/>
          <a:ln/>
        </p:spPr>
        <p:txBody>
          <a:bodyPr wrap="square" lIns="0" tIns="0" rIns="0" bIns="0" rtlCol="0" anchor="ctr"/>
          <a:lstStyle/>
          <a:p>
            <a:pPr indent="0" marL="0">
              <a:buNone/>
            </a:pPr>
            <a:r>
              <a:rPr lang="en-US" sz="1400" dirty="0">
                <a:solidFill>
                  <a:srgbClr val="0B2530"/>
                </a:solidFill>
              </a:rPr>
              <a:t>Fraud score falls with tenure (0.23 at six months to 0.05 at eleven years) and rises with claim size, the pattern the dataset describes.</a:t>
            </a:r>
            <a:endParaRPr lang="en-US" sz="1400" dirty="0"/>
          </a:p>
        </p:txBody>
      </p:sp>
      <p:sp>
        <p:nvSpPr>
          <p:cNvPr id="18" name="Shape 16"/>
          <p:cNvSpPr/>
          <p:nvPr/>
        </p:nvSpPr>
        <p:spPr>
          <a:xfrm>
            <a:off x="594360" y="4828032"/>
            <a:ext cx="128016" cy="128016"/>
          </a:xfrm>
          <a:prstGeom prst="ellipse">
            <a:avLst/>
          </a:prstGeom>
          <a:solidFill>
            <a:srgbClr val="0E7C86"/>
          </a:solidFill>
          <a:ln w="12700">
            <a:solidFill>
              <a:srgbClr val="0E7C86"/>
            </a:solidFill>
            <a:prstDash val="solid"/>
          </a:ln>
        </p:spPr>
      </p:sp>
      <p:sp>
        <p:nvSpPr>
          <p:cNvPr id="19" name="Text 17"/>
          <p:cNvSpPr txBox="1"/>
          <p:nvPr/>
        </p:nvSpPr>
        <p:spPr>
          <a:xfrm>
            <a:off x="868680" y="4709160"/>
            <a:ext cx="10698480" cy="411480"/>
          </a:xfrm>
          <a:prstGeom prst="rect">
            <a:avLst/>
          </a:prstGeom>
          <a:noFill/>
          <a:ln/>
        </p:spPr>
        <p:txBody>
          <a:bodyPr wrap="square" lIns="0" tIns="0" rIns="0" bIns="0" rtlCol="0" anchor="ctr"/>
          <a:lstStyle/>
          <a:p>
            <a:pPr indent="0" marL="0">
              <a:buNone/>
            </a:pPr>
            <a:r>
              <a:rPr lang="en-US" sz="1400" dirty="0">
                <a:solidFill>
                  <a:srgbClr val="0B2530"/>
                </a:solidFill>
              </a:rPr>
              <a:t>Resolution time tracks filing delay: about 13 days after a one-day delay, about 25 after thirteen.</a:t>
            </a:r>
            <a:endParaRPr lang="en-US" sz="1400" dirty="0"/>
          </a:p>
        </p:txBody>
      </p:sp>
      <p:sp>
        <p:nvSpPr>
          <p:cNvPr id="20" name="Shape 18"/>
          <p:cNvSpPr/>
          <p:nvPr/>
        </p:nvSpPr>
        <p:spPr>
          <a:xfrm>
            <a:off x="594360" y="5285232"/>
            <a:ext cx="128016" cy="128016"/>
          </a:xfrm>
          <a:prstGeom prst="ellipse">
            <a:avLst/>
          </a:prstGeom>
          <a:solidFill>
            <a:srgbClr val="0E7C86"/>
          </a:solidFill>
          <a:ln w="12700">
            <a:solidFill>
              <a:srgbClr val="0E7C86"/>
            </a:solidFill>
            <a:prstDash val="solid"/>
          </a:ln>
        </p:spPr>
      </p:sp>
      <p:sp>
        <p:nvSpPr>
          <p:cNvPr id="21" name="Text 19"/>
          <p:cNvSpPr txBox="1"/>
          <p:nvPr/>
        </p:nvSpPr>
        <p:spPr>
          <a:xfrm>
            <a:off x="868680" y="5166360"/>
            <a:ext cx="10698480" cy="411480"/>
          </a:xfrm>
          <a:prstGeom prst="rect">
            <a:avLst/>
          </a:prstGeom>
          <a:noFill/>
          <a:ln/>
        </p:spPr>
        <p:txBody>
          <a:bodyPr wrap="square" lIns="0" tIns="0" rIns="0" bIns="0" rtlCol="0" anchor="ctr"/>
          <a:lstStyle/>
          <a:p>
            <a:pPr indent="0" marL="0">
              <a:buNone/>
            </a:pPr>
            <a:r>
              <a:rPr lang="en-US" sz="1400" dirty="0">
                <a:solidFill>
                  <a:srgbClr val="0B2530"/>
                </a:solidFill>
              </a:rPr>
              <a:t>Amount: business claims average about $107,000 against $17,000 for renters.</a:t>
            </a:r>
            <a:endParaRPr lang="en-US" sz="1400" dirty="0"/>
          </a:p>
        </p:txBody>
      </p:sp>
      <p:sp>
        <p:nvSpPr>
          <p:cNvPr id="22" name="Shape 20"/>
          <p:cNvSpPr/>
          <p:nvPr/>
        </p:nvSpPr>
        <p:spPr>
          <a:xfrm>
            <a:off x="594360" y="5742432"/>
            <a:ext cx="128016" cy="128016"/>
          </a:xfrm>
          <a:prstGeom prst="ellipse">
            <a:avLst/>
          </a:prstGeom>
          <a:solidFill>
            <a:srgbClr val="0E7C86"/>
          </a:solidFill>
          <a:ln w="12700">
            <a:solidFill>
              <a:srgbClr val="0E7C86"/>
            </a:solidFill>
            <a:prstDash val="solid"/>
          </a:ln>
        </p:spPr>
      </p:sp>
      <p:sp>
        <p:nvSpPr>
          <p:cNvPr id="23" name="Text 21"/>
          <p:cNvSpPr txBox="1"/>
          <p:nvPr/>
        </p:nvSpPr>
        <p:spPr>
          <a:xfrm>
            <a:off x="868680" y="5623560"/>
            <a:ext cx="10698480" cy="411480"/>
          </a:xfrm>
          <a:prstGeom prst="rect">
            <a:avLst/>
          </a:prstGeom>
          <a:noFill/>
          <a:ln/>
        </p:spPr>
        <p:txBody>
          <a:bodyPr wrap="square" lIns="0" tIns="0" rIns="0" bIns="0" rtlCol="0" anchor="ctr"/>
          <a:lstStyle/>
          <a:p>
            <a:pPr indent="0" marL="0">
              <a:buNone/>
            </a:pPr>
            <a:r>
              <a:rPr lang="en-US" sz="1400" dirty="0">
                <a:solidFill>
                  <a:srgbClr val="0B2530"/>
                </a:solidFill>
              </a:rPr>
              <a:t>Per claim: each feature is swapped for a typical value to show how far it moved this estimate. Associations, not causes.</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B7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Evaluated, guarded and learning</a:t>
            </a:r>
            <a:endParaRPr lang="en-US" sz="3200" dirty="0"/>
          </a:p>
        </p:txBody>
      </p:sp>
      <p:sp>
        <p:nvSpPr>
          <p:cNvPr id="3" name="Shape 1"/>
          <p:cNvSpPr/>
          <p:nvPr/>
        </p:nvSpPr>
        <p:spPr>
          <a:xfrm>
            <a:off x="548640" y="1371600"/>
            <a:ext cx="3483864" cy="3977640"/>
          </a:xfrm>
          <a:prstGeom prst="roundRect">
            <a:avLst>
              <a:gd name="adj" fmla="val 3150"/>
            </a:avLst>
          </a:prstGeom>
          <a:solidFill>
            <a:srgbClr val="E6F4F1"/>
          </a:solidFill>
          <a:ln w="12700">
            <a:solidFill>
              <a:srgbClr val="E6F4F1"/>
            </a:solidFill>
            <a:prstDash val="solid"/>
          </a:ln>
          <a:effectLst>
            <a:outerShdw sx="100000" sy="100000" kx="0" ky="0" algn="bl" rotWithShape="0" blurRad="101600" dist="25400" dir="5400000">
              <a:srgbClr val="000000">
                <a:alpha val="12000"/>
              </a:srgbClr>
            </a:outerShdw>
          </a:effectLst>
        </p:spPr>
      </p:sp>
      <p:sp>
        <p:nvSpPr>
          <p:cNvPr id="4" name="badge 1"/>
          <p:cNvSpPr/>
          <p:nvPr/>
        </p:nvSpPr>
        <p:spPr>
          <a:xfrm>
            <a:off x="822960" y="1645920"/>
            <a:ext cx="457200" cy="457200"/>
          </a:xfrm>
          <a:prstGeom prst="ellipse">
            <a:avLst/>
          </a:prstGeom>
          <a:solidFill>
            <a:srgbClr val="0E7C86"/>
          </a:solidFill>
          <a:ln w="12700">
            <a:solidFill>
              <a:srgbClr val="0E7C86"/>
            </a:solidFill>
            <a:prstDash val="solid"/>
          </a:ln>
        </p:spPr>
      </p:sp>
      <p:sp>
        <p:nvSpPr>
          <p:cNvPr id="5" name="Text 3"/>
          <p:cNvSpPr txBox="1"/>
          <p:nvPr/>
        </p:nvSpPr>
        <p:spPr>
          <a:xfrm>
            <a:off x="822960" y="1645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1417320" y="1645920"/>
            <a:ext cx="2377440" cy="457200"/>
          </a:xfrm>
          <a:prstGeom prst="rect">
            <a:avLst/>
          </a:prstGeom>
          <a:noFill/>
          <a:ln/>
        </p:spPr>
        <p:txBody>
          <a:bodyPr wrap="square" lIns="0" tIns="0" rIns="0" bIns="0" rtlCol="0" anchor="ctr"/>
          <a:lstStyle/>
          <a:p>
            <a:pPr indent="0" marL="0">
              <a:buNone/>
            </a:pPr>
            <a:r>
              <a:rPr lang="en-US" sz="2200" b="1" dirty="0">
                <a:solidFill>
                  <a:srgbClr val="0B2530"/>
                </a:solidFill>
              </a:rPr>
              <a:t>Evaluated</a:t>
            </a:r>
            <a:endParaRPr lang="en-US" sz="2200" dirty="0"/>
          </a:p>
        </p:txBody>
      </p:sp>
      <p:sp>
        <p:nvSpPr>
          <p:cNvPr id="7" name="Text 5"/>
          <p:cNvSpPr txBox="1"/>
          <p:nvPr/>
        </p:nvSpPr>
        <p:spPr>
          <a:xfrm>
            <a:off x="822960" y="2377440"/>
            <a:ext cx="3017520" cy="28346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0B2530"/>
                </a:solidFill>
              </a:rPr>
              <a:t>Golden cases: 4 of 4 on the live system</a:t>
            </a:r>
            <a:endParaRPr lang="en-US" sz="1500" dirty="0"/>
          </a:p>
          <a:p>
            <a:pPr marL="342900" indent="-342900">
              <a:spcAft>
                <a:spcPts val="1000"/>
              </a:spcAft>
              <a:buSzPct val="100000"/>
              <a:buChar char="•"/>
            </a:pPr>
            <a:r>
              <a:rPr lang="en-US" sz="1500" dirty="0">
                <a:solidFill>
                  <a:srgbClr val="0B2530"/>
                </a:solidFill>
              </a:rPr>
              <a:t>DeepEval: 12 of 12 metrics ran, 8 pass</a:t>
            </a:r>
            <a:endParaRPr lang="en-US" sz="1500" dirty="0"/>
          </a:p>
          <a:p>
            <a:pPr marL="342900" indent="-342900">
              <a:spcAft>
                <a:spcPts val="1000"/>
              </a:spcAft>
              <a:buSzPct val="100000"/>
              <a:buChar char="•"/>
            </a:pPr>
            <a:r>
              <a:rPr lang="en-US" sz="1500" dirty="0">
                <a:solidFill>
                  <a:srgbClr val="0B2530"/>
                </a:solidFill>
              </a:rPr>
              <a:t>Independent LLM judge on every live brief</a:t>
            </a:r>
            <a:endParaRPr lang="en-US" sz="1500" dirty="0"/>
          </a:p>
          <a:p>
            <a:pPr marL="342900" indent="-342900">
              <a:spcAft>
                <a:spcPts val="1000"/>
              </a:spcAft>
              <a:buSzPct val="100000"/>
              <a:buChar char="•"/>
            </a:pPr>
            <a:r>
              <a:rPr lang="en-US" sz="1500" dirty="0">
                <a:solidFill>
                  <a:srgbClr val="0B2530"/>
                </a:solidFill>
              </a:rPr>
              <a:t>905 backend and 171 UI tests</a:t>
            </a:r>
            <a:endParaRPr lang="en-US" sz="1500" dirty="0"/>
          </a:p>
        </p:txBody>
      </p:sp>
      <p:sp>
        <p:nvSpPr>
          <p:cNvPr id="8" name="Shape 6"/>
          <p:cNvSpPr/>
          <p:nvPr/>
        </p:nvSpPr>
        <p:spPr>
          <a:xfrm>
            <a:off x="4352544" y="1371600"/>
            <a:ext cx="3483864" cy="3977640"/>
          </a:xfrm>
          <a:prstGeom prst="roundRect">
            <a:avLst>
              <a:gd name="adj" fmla="val 3150"/>
            </a:avLst>
          </a:prstGeom>
          <a:solidFill>
            <a:srgbClr val="E6F4F1"/>
          </a:solidFill>
          <a:ln w="12700">
            <a:solidFill>
              <a:srgbClr val="E6F4F1"/>
            </a:solidFill>
            <a:prstDash val="solid"/>
          </a:ln>
          <a:effectLst>
            <a:outerShdw sx="100000" sy="100000" kx="0" ky="0" algn="bl" rotWithShape="0" blurRad="101600" dist="25400" dir="5400000">
              <a:srgbClr val="000000">
                <a:alpha val="12000"/>
              </a:srgbClr>
            </a:outerShdw>
          </a:effectLst>
        </p:spPr>
      </p:sp>
      <p:sp>
        <p:nvSpPr>
          <p:cNvPr id="9" name="badge 2"/>
          <p:cNvSpPr/>
          <p:nvPr/>
        </p:nvSpPr>
        <p:spPr>
          <a:xfrm>
            <a:off x="4626864" y="1645920"/>
            <a:ext cx="457200" cy="457200"/>
          </a:xfrm>
          <a:prstGeom prst="ellipse">
            <a:avLst/>
          </a:prstGeom>
          <a:solidFill>
            <a:srgbClr val="D9534F"/>
          </a:solidFill>
          <a:ln w="12700">
            <a:solidFill>
              <a:srgbClr val="D9534F"/>
            </a:solidFill>
            <a:prstDash val="solid"/>
          </a:ln>
        </p:spPr>
      </p:sp>
      <p:sp>
        <p:nvSpPr>
          <p:cNvPr id="10" name="Text 8"/>
          <p:cNvSpPr txBox="1"/>
          <p:nvPr/>
        </p:nvSpPr>
        <p:spPr>
          <a:xfrm>
            <a:off x="4626864" y="1645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1" name="Text 9"/>
          <p:cNvSpPr txBox="1"/>
          <p:nvPr/>
        </p:nvSpPr>
        <p:spPr>
          <a:xfrm>
            <a:off x="5221224" y="1645920"/>
            <a:ext cx="2377440" cy="457200"/>
          </a:xfrm>
          <a:prstGeom prst="rect">
            <a:avLst/>
          </a:prstGeom>
          <a:noFill/>
          <a:ln/>
        </p:spPr>
        <p:txBody>
          <a:bodyPr wrap="square" lIns="0" tIns="0" rIns="0" bIns="0" rtlCol="0" anchor="ctr"/>
          <a:lstStyle/>
          <a:p>
            <a:pPr indent="0" marL="0">
              <a:buNone/>
            </a:pPr>
            <a:r>
              <a:rPr lang="en-US" sz="2200" b="1" dirty="0">
                <a:solidFill>
                  <a:srgbClr val="0B2530"/>
                </a:solidFill>
              </a:rPr>
              <a:t>Guarded</a:t>
            </a:r>
            <a:endParaRPr lang="en-US" sz="2200" dirty="0"/>
          </a:p>
        </p:txBody>
      </p:sp>
      <p:sp>
        <p:nvSpPr>
          <p:cNvPr id="12" name="Text 10"/>
          <p:cNvSpPr txBox="1"/>
          <p:nvPr/>
        </p:nvSpPr>
        <p:spPr>
          <a:xfrm>
            <a:off x="4626864" y="2377440"/>
            <a:ext cx="3017520" cy="28346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0B2530"/>
                </a:solidFill>
              </a:rPr>
              <a:t>7 of 7 invalid inputs refused</a:t>
            </a:r>
            <a:endParaRPr lang="en-US" sz="1500" dirty="0"/>
          </a:p>
          <a:p>
            <a:pPr marL="342900" indent="-342900">
              <a:spcAft>
                <a:spcPts val="1000"/>
              </a:spcAft>
              <a:buSzPct val="100000"/>
              <a:buChar char="•"/>
            </a:pPr>
            <a:r>
              <a:rPr lang="en-US" sz="1500" dirty="0">
                <a:solidFill>
                  <a:srgbClr val="0B2530"/>
                </a:solidFill>
              </a:rPr>
              <a:t>Every finding must cite a supplied source</a:t>
            </a:r>
            <a:endParaRPr lang="en-US" sz="1500" dirty="0"/>
          </a:p>
          <a:p>
            <a:pPr marL="342900" indent="-342900">
              <a:spcAft>
                <a:spcPts val="1000"/>
              </a:spcAft>
              <a:buSzPct val="100000"/>
              <a:buChar char="•"/>
            </a:pPr>
            <a:r>
              <a:rPr lang="en-US" sz="1500" dirty="0">
                <a:solidFill>
                  <a:srgbClr val="0B2530"/>
                </a:solidFill>
              </a:rPr>
              <a:t>A brief claiming a document was 'provided' is held for review</a:t>
            </a:r>
            <a:endParaRPr lang="en-US" sz="1500" dirty="0"/>
          </a:p>
          <a:p>
            <a:pPr marL="342900" indent="-342900">
              <a:spcAft>
                <a:spcPts val="1000"/>
              </a:spcAft>
              <a:buSzPct val="100000"/>
              <a:buChar char="•"/>
            </a:pPr>
            <a:r>
              <a:rPr lang="en-US" sz="1500" dirty="0">
                <a:solidFill>
                  <a:srgbClr val="0B2530"/>
                </a:solidFill>
              </a:rPr>
              <a:t>Decision language is blocked</a:t>
            </a:r>
            <a:endParaRPr lang="en-US" sz="1500" dirty="0"/>
          </a:p>
        </p:txBody>
      </p:sp>
      <p:sp>
        <p:nvSpPr>
          <p:cNvPr id="13" name="Shape 11"/>
          <p:cNvSpPr/>
          <p:nvPr/>
        </p:nvSpPr>
        <p:spPr>
          <a:xfrm>
            <a:off x="8156448" y="1371600"/>
            <a:ext cx="3483864" cy="3977640"/>
          </a:xfrm>
          <a:prstGeom prst="roundRect">
            <a:avLst>
              <a:gd name="adj" fmla="val 3150"/>
            </a:avLst>
          </a:prstGeom>
          <a:solidFill>
            <a:srgbClr val="E6F4F1"/>
          </a:solidFill>
          <a:ln w="12700">
            <a:solidFill>
              <a:srgbClr val="E6F4F1"/>
            </a:solidFill>
            <a:prstDash val="solid"/>
          </a:ln>
          <a:effectLst>
            <a:outerShdw sx="100000" sy="100000" kx="0" ky="0" algn="bl" rotWithShape="0" blurRad="101600" dist="25400" dir="5400000">
              <a:srgbClr val="000000">
                <a:alpha val="12000"/>
              </a:srgbClr>
            </a:outerShdw>
          </a:effectLst>
        </p:spPr>
      </p:sp>
      <p:sp>
        <p:nvSpPr>
          <p:cNvPr id="14" name="badge 3"/>
          <p:cNvSpPr/>
          <p:nvPr/>
        </p:nvSpPr>
        <p:spPr>
          <a:xfrm>
            <a:off x="8430768" y="1645920"/>
            <a:ext cx="457200" cy="457200"/>
          </a:xfrm>
          <a:prstGeom prst="ellipse">
            <a:avLst/>
          </a:prstGeom>
          <a:solidFill>
            <a:srgbClr val="F2A93B"/>
          </a:solidFill>
          <a:ln w="12700">
            <a:solidFill>
              <a:srgbClr val="F2A93B"/>
            </a:solidFill>
            <a:prstDash val="solid"/>
          </a:ln>
        </p:spPr>
      </p:sp>
      <p:sp>
        <p:nvSpPr>
          <p:cNvPr id="15" name="Text 13"/>
          <p:cNvSpPr txBox="1"/>
          <p:nvPr/>
        </p:nvSpPr>
        <p:spPr>
          <a:xfrm>
            <a:off x="8430768" y="1645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6" name="Text 14"/>
          <p:cNvSpPr txBox="1"/>
          <p:nvPr/>
        </p:nvSpPr>
        <p:spPr>
          <a:xfrm>
            <a:off x="9025128" y="1645920"/>
            <a:ext cx="2377440" cy="457200"/>
          </a:xfrm>
          <a:prstGeom prst="rect">
            <a:avLst/>
          </a:prstGeom>
          <a:noFill/>
          <a:ln/>
        </p:spPr>
        <p:txBody>
          <a:bodyPr wrap="square" lIns="0" tIns="0" rIns="0" bIns="0" rtlCol="0" anchor="ctr"/>
          <a:lstStyle/>
          <a:p>
            <a:pPr indent="0" marL="0">
              <a:buNone/>
            </a:pPr>
            <a:r>
              <a:rPr lang="en-US" sz="2200" b="1" dirty="0">
                <a:solidFill>
                  <a:srgbClr val="0B2530"/>
                </a:solidFill>
              </a:rPr>
              <a:t>Learning</a:t>
            </a:r>
            <a:endParaRPr lang="en-US" sz="2200" dirty="0"/>
          </a:p>
        </p:txBody>
      </p:sp>
      <p:sp>
        <p:nvSpPr>
          <p:cNvPr id="17" name="Text 15"/>
          <p:cNvSpPr txBox="1"/>
          <p:nvPr/>
        </p:nvSpPr>
        <p:spPr>
          <a:xfrm>
            <a:off x="8430768" y="2377440"/>
            <a:ext cx="3017520" cy="28346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0B2530"/>
                </a:solidFill>
              </a:rPr>
              <a:t>Rate an accepted brief</a:t>
            </a:r>
            <a:endParaRPr lang="en-US" sz="1500" dirty="0"/>
          </a:p>
          <a:p>
            <a:pPr marL="342900" indent="-342900">
              <a:spcAft>
                <a:spcPts val="1000"/>
              </a:spcAft>
              <a:buSzPct val="100000"/>
              <a:buChar char="•"/>
            </a:pPr>
            <a:r>
              <a:rPr lang="en-US" sz="1500" dirty="0">
                <a:solidFill>
                  <a:srgbClr val="0B2530"/>
                </a:solidFill>
              </a:rPr>
              <a:t>Administrator promotes the lesson</a:t>
            </a:r>
            <a:endParaRPr lang="en-US" sz="1500" dirty="0"/>
          </a:p>
          <a:p>
            <a:pPr marL="342900" indent="-342900">
              <a:spcAft>
                <a:spcPts val="1000"/>
              </a:spcAft>
              <a:buSzPct val="100000"/>
              <a:buChar char="•"/>
            </a:pPr>
            <a:r>
              <a:rPr lang="en-US" sz="1500" dirty="0">
                <a:solidFill>
                  <a:srgbClr val="0B2530"/>
                </a:solidFill>
              </a:rPr>
              <a:t>Cited as evidence next time, and ingested into Synapt</a:t>
            </a:r>
            <a:endParaRPr lang="en-US" sz="1500" dirty="0"/>
          </a:p>
          <a:p>
            <a:pPr marL="342900" indent="-342900">
              <a:spcAft>
                <a:spcPts val="1000"/>
              </a:spcAft>
              <a:buSzPct val="100000"/>
              <a:buChar char="•"/>
            </a:pPr>
            <a:r>
              <a:rPr lang="en-US" sz="1500" dirty="0">
                <a:solidFill>
                  <a:srgbClr val="0B2530"/>
                </a:solidFill>
              </a:rPr>
              <a:t>Answer ratings sent to Synapt as feedback</a:t>
            </a:r>
            <a:endParaRPr lang="en-US" sz="1500" dirty="0"/>
          </a:p>
        </p:txBody>
      </p:sp>
      <p:sp>
        <p:nvSpPr>
          <p:cNvPr id="18" name="Text 16"/>
          <p:cNvSpPr txBox="1"/>
          <p:nvPr/>
        </p:nvSpPr>
        <p:spPr>
          <a:xfrm>
            <a:off x="548640" y="5577840"/>
            <a:ext cx="11064240" cy="548640"/>
          </a:xfrm>
          <a:prstGeom prst="rect">
            <a:avLst/>
          </a:prstGeom>
          <a:noFill/>
          <a:ln/>
        </p:spPr>
        <p:txBody>
          <a:bodyPr wrap="square" lIns="0" tIns="0" rIns="0" bIns="0" rtlCol="0" anchor="ctr"/>
          <a:lstStyle/>
          <a:p>
            <a:pPr indent="0" marL="0">
              <a:buNone/>
            </a:pPr>
            <a:r>
              <a:rPr lang="en-US" sz="1600" i="1" dirty="0">
                <a:solidFill>
                  <a:srgbClr val="0E4A57"/>
                </a:solidFill>
              </a:rPr>
              <a:t>Evaluation, the guardrail catch and the feedback loop were exercised on the live system, not only in unit tests.</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B7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31520" y="548640"/>
            <a:ext cx="1069848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Honest limits, and what comes next</a:t>
            </a:r>
            <a:endParaRPr lang="en-US" sz="3800" dirty="0"/>
          </a:p>
        </p:txBody>
      </p:sp>
      <p:sp>
        <p:nvSpPr>
          <p:cNvPr id="3" name="Shape 1"/>
          <p:cNvSpPr/>
          <p:nvPr/>
        </p:nvSpPr>
        <p:spPr>
          <a:xfrm>
            <a:off x="731520" y="1691640"/>
            <a:ext cx="5120640" cy="3429000"/>
          </a:xfrm>
          <a:prstGeom prst="roundRect">
            <a:avLst>
              <a:gd name="adj" fmla="val 3200"/>
            </a:avLst>
          </a:prstGeom>
          <a:solidFill>
            <a:srgbClr val="0E4A57"/>
          </a:solidFill>
          <a:ln w="12700">
            <a:solidFill>
              <a:srgbClr val="0E4A57"/>
            </a:solidFill>
            <a:prstDash val="solid"/>
          </a:ln>
        </p:spPr>
      </p:sp>
      <p:sp>
        <p:nvSpPr>
          <p:cNvPr id="4" name="Text 2"/>
          <p:cNvSpPr txBox="1"/>
          <p:nvPr/>
        </p:nvSpPr>
        <p:spPr>
          <a:xfrm>
            <a:off x="1051560" y="1874520"/>
            <a:ext cx="4480560" cy="457200"/>
          </a:xfrm>
          <a:prstGeom prst="rect">
            <a:avLst/>
          </a:prstGeom>
          <a:noFill/>
          <a:ln/>
        </p:spPr>
        <p:txBody>
          <a:bodyPr wrap="square" lIns="0" tIns="0" rIns="0" bIns="0" rtlCol="0" anchor="ctr"/>
          <a:lstStyle/>
          <a:p>
            <a:pPr indent="0" marL="0">
              <a:buNone/>
            </a:pPr>
            <a:r>
              <a:rPr lang="en-US" sz="2400" b="1" dirty="0">
                <a:solidFill>
                  <a:srgbClr val="F2A93B"/>
                </a:solidFill>
              </a:rPr>
              <a:t>Limits</a:t>
            </a:r>
            <a:endParaRPr lang="en-US" sz="2400" dirty="0"/>
          </a:p>
        </p:txBody>
      </p:sp>
      <p:sp>
        <p:nvSpPr>
          <p:cNvPr id="5" name="Text 3"/>
          <p:cNvSpPr txBox="1"/>
          <p:nvPr/>
        </p:nvSpPr>
        <p:spPr>
          <a:xfrm>
            <a:off x="1051560" y="2514600"/>
            <a:ext cx="4526280" cy="26517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FFFFFF"/>
                </a:solidFill>
              </a:rPr>
              <a:t>Synthetic data: no claim of real-world accuracy</a:t>
            </a:r>
            <a:endParaRPr lang="en-US" sz="1600" dirty="0"/>
          </a:p>
          <a:p>
            <a:pPr marL="342900" indent="-342900">
              <a:spcAft>
                <a:spcPts val="1000"/>
              </a:spcAft>
              <a:buSzPct val="100000"/>
              <a:buChar char="•"/>
            </a:pPr>
            <a:r>
              <a:rPr lang="en-US" sz="1600" dirty="0">
                <a:solidFill>
                  <a:srgbClr val="FFFFFF"/>
                </a:solidFill>
              </a:rPr>
              <a:t>Synapt's ticket store holds 2,000 of 100 million claims: a mild ranking signal</a:t>
            </a:r>
            <a:endParaRPr lang="en-US" sz="1600" dirty="0"/>
          </a:p>
          <a:p>
            <a:pPr marL="342900" indent="-342900">
              <a:spcAft>
                <a:spcPts val="1000"/>
              </a:spcAft>
              <a:buSzPct val="100000"/>
              <a:buChar char="•"/>
            </a:pPr>
            <a:r>
              <a:rPr lang="en-US" sz="1600" dirty="0">
                <a:solidFill>
                  <a:srgbClr val="FFFFFF"/>
                </a:solidFill>
              </a:rPr>
              <a:t>Fraud recall is 31%: a screening aid, not a detector</a:t>
            </a:r>
            <a:endParaRPr lang="en-US" sz="1600" dirty="0"/>
          </a:p>
          <a:p>
            <a:pPr marL="342900" indent="-342900">
              <a:spcAft>
                <a:spcPts val="1000"/>
              </a:spcAft>
              <a:buSzPct val="100000"/>
              <a:buChar char="•"/>
            </a:pPr>
            <a:r>
              <a:rPr lang="en-US" sz="1600" dirty="0">
                <a:solidFill>
                  <a:srgbClr val="FFFFFF"/>
                </a:solidFill>
              </a:rPr>
              <a:t>The judge is advisory and probabilistic</a:t>
            </a:r>
            <a:endParaRPr lang="en-US" sz="1600" dirty="0"/>
          </a:p>
        </p:txBody>
      </p:sp>
      <p:sp>
        <p:nvSpPr>
          <p:cNvPr id="6" name="Shape 4"/>
          <p:cNvSpPr/>
          <p:nvPr/>
        </p:nvSpPr>
        <p:spPr>
          <a:xfrm>
            <a:off x="6217920" y="1691640"/>
            <a:ext cx="5120640" cy="3429000"/>
          </a:xfrm>
          <a:prstGeom prst="roundRect">
            <a:avLst>
              <a:gd name="adj" fmla="val 3200"/>
            </a:avLst>
          </a:prstGeom>
          <a:solidFill>
            <a:srgbClr val="0E4A57"/>
          </a:solidFill>
          <a:ln w="12700">
            <a:solidFill>
              <a:srgbClr val="0E4A57"/>
            </a:solidFill>
            <a:prstDash val="solid"/>
          </a:ln>
        </p:spPr>
      </p:sp>
      <p:sp>
        <p:nvSpPr>
          <p:cNvPr id="7" name="Text 5"/>
          <p:cNvSpPr txBox="1"/>
          <p:nvPr/>
        </p:nvSpPr>
        <p:spPr>
          <a:xfrm>
            <a:off x="6537960" y="1874520"/>
            <a:ext cx="4480560" cy="457200"/>
          </a:xfrm>
          <a:prstGeom prst="rect">
            <a:avLst/>
          </a:prstGeom>
          <a:noFill/>
          <a:ln/>
        </p:spPr>
        <p:txBody>
          <a:bodyPr wrap="square" lIns="0" tIns="0" rIns="0" bIns="0" rtlCol="0" anchor="ctr"/>
          <a:lstStyle/>
          <a:p>
            <a:pPr indent="0" marL="0">
              <a:buNone/>
            </a:pPr>
            <a:r>
              <a:rPr lang="en-US" sz="2400" b="1" dirty="0">
                <a:solidFill>
                  <a:srgbClr val="7FD1C7"/>
                </a:solidFill>
              </a:rPr>
              <a:t>Next</a:t>
            </a:r>
            <a:endParaRPr lang="en-US" sz="2400" dirty="0"/>
          </a:p>
        </p:txBody>
      </p:sp>
      <p:sp>
        <p:nvSpPr>
          <p:cNvPr id="8" name="Text 6"/>
          <p:cNvSpPr txBox="1"/>
          <p:nvPr/>
        </p:nvSpPr>
        <p:spPr>
          <a:xfrm>
            <a:off x="6537960" y="2514600"/>
            <a:ext cx="4526280" cy="26517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FFFFFF"/>
                </a:solidFill>
              </a:rPr>
              <a:t>Episode mining over the ticket store (not yet run)</a:t>
            </a:r>
            <a:endParaRPr lang="en-US" sz="1600" dirty="0"/>
          </a:p>
          <a:p>
            <a:pPr marL="342900" indent="-342900">
              <a:spcAft>
                <a:spcPts val="1000"/>
              </a:spcAft>
              <a:buSzPct val="100000"/>
              <a:buChar char="•"/>
            </a:pPr>
            <a:r>
              <a:rPr lang="en-US" sz="1600" dirty="0">
                <a:solidFill>
                  <a:srgbClr val="FFFFFF"/>
                </a:solidFill>
              </a:rPr>
              <a:t>A larger ticket store, with its ranking re-measured</a:t>
            </a:r>
            <a:endParaRPr lang="en-US" sz="1600" dirty="0"/>
          </a:p>
          <a:p>
            <a:pPr marL="342900" indent="-342900">
              <a:spcAft>
                <a:spcPts val="1000"/>
              </a:spcAft>
              <a:buSzPct val="100000"/>
              <a:buChar char="•"/>
            </a:pPr>
            <a:r>
              <a:rPr lang="en-US" sz="1600" dirty="0">
                <a:solidFill>
                  <a:srgbClr val="FFFFFF"/>
                </a:solidFill>
              </a:rPr>
              <a:t>DeepEval over real handler runs, not only golden cases</a:t>
            </a:r>
            <a:endParaRPr lang="en-US" sz="1600" dirty="0"/>
          </a:p>
          <a:p>
            <a:pPr marL="342900" indent="-342900">
              <a:spcAft>
                <a:spcPts val="1000"/>
              </a:spcAft>
              <a:buSzPct val="100000"/>
              <a:buChar char="•"/>
            </a:pPr>
            <a:r>
              <a:rPr lang="en-US" sz="1600" dirty="0">
                <a:solidFill>
                  <a:srgbClr val="FFFFFF"/>
                </a:solidFill>
              </a:rPr>
              <a:t>Single sign-on, MFA and multi-tenant isolation</a:t>
            </a:r>
            <a:endParaRPr lang="en-US" sz="1600" dirty="0"/>
          </a:p>
        </p:txBody>
      </p:sp>
      <p:sp>
        <p:nvSpPr>
          <p:cNvPr id="9" name="Text 7"/>
          <p:cNvSpPr txBox="1"/>
          <p:nvPr/>
        </p:nvSpPr>
        <p:spPr>
          <a:xfrm>
            <a:off x="731520" y="5669280"/>
            <a:ext cx="10698480" cy="548640"/>
          </a:xfrm>
          <a:prstGeom prst="rect">
            <a:avLst/>
          </a:prstGeom>
          <a:noFill/>
          <a:ln/>
        </p:spPr>
        <p:txBody>
          <a:bodyPr wrap="square" lIns="0" tIns="0" rIns="0" bIns="0" rtlCol="0" anchor="ctr"/>
          <a:lstStyle/>
          <a:p>
            <a:pPr indent="0" marL="0">
              <a:buNone/>
            </a:pPr>
            <a:r>
              <a:rPr lang="en-US" sz="2800" i="1" dirty="0">
                <a:solidFill>
                  <a:srgbClr val="F2A93B"/>
                </a:solidFill>
                <a:latin typeface="Cambria" pitchFamily="34" charset="0"/>
                <a:ea typeface="Cambria" pitchFamily="34" charset="-122"/>
                <a:cs typeface="Cambria" pitchFamily="34" charset="-120"/>
              </a:rPr>
              <a:t>Evidence informs. A person decides.</a:t>
            </a:r>
            <a:endParaRPr lang="en-US" sz="2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BA"/>
                </a:solidFill>
              </a:defRPr>
            </a:lvl1pPr>
          </a:lstStyle>
          <a:p>
            <a:pPr algn="l"/>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Claims Panel">
  <a:themeElements>
    <a:clrScheme name="Claims Panel">
      <a:dk1>
        <a:srgbClr val="0B2530"/>
      </a:dk1>
      <a:lt1>
        <a:srgbClr val="FFFFFF"/>
      </a:lt1>
      <a:dk2>
        <a:srgbClr val="0E4A57"/>
      </a:dk2>
      <a:lt2>
        <a:srgbClr val="E6F4F1"/>
      </a:lt2>
      <a:accent1>
        <a:srgbClr val="0E7C86"/>
      </a:accent1>
      <a:accent2>
        <a:srgbClr val="F2A93B"/>
      </a:accent2>
      <a:accent3>
        <a:srgbClr val="D9534F"/>
      </a:accent3>
      <a:accent4>
        <a:srgbClr val="3E6D8F"/>
      </a:accent4>
      <a:accent5>
        <a:srgbClr val="3A8F5C"/>
      </a:accent5>
      <a:accent6>
        <a:srgbClr val="6D5BA8"/>
      </a:accent6>
      <a:hlink>
        <a:srgbClr val="0E7C86"/>
      </a:hlink>
      <a:folHlink>
        <a:srgbClr val="6D5BA8"/>
      </a:folHlink>
    </a:clrScheme>
    <a:fontScheme name="Claims Pane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Insurance Claims Assistant: panel presentation</dc:title>
  <dc:subject>PptxGenJS Presentation</dc:subject>
  <dc:creator>Sai Chaithanya Reddy Yedururi</dc:creator>
  <cp:lastModifiedBy>Sai Chaithanya Reddy Yedururi</cp:lastModifiedBy>
  <cp:revision>1</cp:revision>
  <dcterms:created xsi:type="dcterms:W3CDTF">2026-10-13T08:07:16Z</dcterms:created>
  <dcterms:modified xsi:type="dcterms:W3CDTF">2026-10-13T08:07:16Z</dcterms:modified>
</cp:coreProperties>
</file>