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b2afe26-480d-2cc3-5e28-544f38d096f2}">
          <p14:sldIdLst>
            <p14:sldId id="256"/>
          </p14:sldIdLst>
        </p14:section>
        <p14:section name="Problem and design" id="{719698ac-c280-fe7c-dfa8-c3189ba10879}">
          <p14:sldIdLst>
            <p14:sldId id="257"/>
            <p14:sldId id="258"/>
            <p14:sldId id="259"/>
          </p14:sldIdLst>
        </p14:section>
        <p14:section name="Synapt" id="{4ffdd4be-a39f-c0bb-ecc2-43ce6a7db4bf}">
          <p14:sldIdLst>
            <p14:sldId id="260"/>
          </p14:sldIdLst>
        </p14:section>
        <p14:section name="Demo and evidence" id="{ccbc8ba8-fe5b-2ada-4341-84fc7ee309f7}">
          <p14:sldIdLst>
            <p14:sldId id="261"/>
            <p14:sldId id="262"/>
            <p14:sldId id="263"/>
          </p14:sldIdLst>
        </p14:section>
        <p14:section name="Close" id="{18c5db76-1f2b-ef8f-afdf-5fdcc1b3296c}">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30"/>
                </a:solidFill>
                <a:latin typeface="+mn-lt"/>
              </a:defRPr>
            </a:pPr>
            <a:r>
              <a:rPr sz="1400" b="0" i="0" u="none" strike="noStrike">
                <a:solidFill>
                  <a:srgbClr val="0B2530"/>
                </a:solidFill>
                <a:latin typeface="+mn-lt"/>
              </a:rPr>
              <a:t>Share of returned cards that match the query claim (%)</a:t>
            </a:r>
          </a:p>
        </c:rich>
      </c:tx>
      <c:layout/>
      <c:overlay val="0"/>
    </c:title>
    <c:autoTitleDeleted val="0"/>
    <c:plotArea>
      <c:layout/>
      <c:barChart>
        <c:barDir val="col"/>
        <c:grouping val="clustered"/>
        <c:varyColors val="0"/>
        <c:ser>
          <c:idx val="0"/>
          <c:order val="0"/>
          <c:tx>
            <c:strRef>
              <c:f>Sheet1!$B$1</c:f>
              <c:strCache>
                <c:ptCount val="1"/>
                <c:pt idx="0">
                  <c:v>Synapt's returned cards</c:v>
                </c:pt>
              </c:strCache>
            </c:strRef>
          </c:tx>
          <c:spPr>
            <a:solidFill>
              <a:srgbClr val="0E7C86"/>
            </a:solidFill>
            <a:effectLst/>
          </c:spPr>
          <c:invertIfNegative val="0"/>
          <c:dLbls>
            <c:numFmt formatCode="#,##0" sourceLinked="0"/>
            <c:txPr>
              <a:bodyPr/>
              <a:lstStyle/>
              <a:p>
                <a:pPr>
                  <a:defRPr b="0" i="0" strike="noStrike" sz="1200" u="none">
                    <a:solidFill>
                      <a:srgbClr val="0B25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Claim type</c:v>
                  </c:pt>
                  <c:pt idx="1">
                    <c:v>Amount band</c:v>
                  </c:pt>
                  <c:pt idx="2">
                    <c:v>State</c:v>
                  </c:pt>
                  <c:pt idx="3">
                    <c:v>Prior claims</c:v>
                  </c:pt>
                </c:lvl>
              </c:multiLvlStrCache>
            </c:multiLvlStrRef>
          </c:cat>
          <c:val>
            <c:numRef>
              <c:f>Sheet1!$B$2:$B$5</c:f>
              <c:numCache>
                <c:formatCode>General</c:formatCode>
                <c:ptCount val="4"/>
                <c:pt idx="0">
                  <c:v>34</c:v>
                </c:pt>
                <c:pt idx="1">
                  <c:v>23</c:v>
                </c:pt>
                <c:pt idx="2">
                  <c:v>7</c:v>
                </c:pt>
                <c:pt idx="3">
                  <c:v>35</c:v>
                </c:pt>
              </c:numCache>
            </c:numRef>
          </c:val>
        </c:ser>
        <c:ser>
          <c:idx val="1"/>
          <c:order val="1"/>
          <c:tx>
            <c:strRef>
              <c:f>Sheet1!$C$1</c:f>
              <c:strCache>
                <c:ptCount val="1"/>
                <c:pt idx="0">
                  <c:v>Random pair of cards</c:v>
                </c:pt>
              </c:strCache>
            </c:strRef>
          </c:tx>
          <c:spPr>
            <a:solidFill>
              <a:srgbClr val="AEBBC0"/>
            </a:solidFill>
            <a:effectLst/>
          </c:spPr>
          <c:invertIfNegative val="0"/>
          <c:dLbls>
            <c:numFmt formatCode="#,##0" sourceLinked="0"/>
            <c:txPr>
              <a:bodyPr/>
              <a:lstStyle/>
              <a:p>
                <a:pPr>
                  <a:defRPr b="0" i="0" strike="noStrike" sz="1200" u="none">
                    <a:solidFill>
                      <a:srgbClr val="0B25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Claim type</c:v>
                  </c:pt>
                  <c:pt idx="1">
                    <c:v>Amount band</c:v>
                  </c:pt>
                  <c:pt idx="2">
                    <c:v>State</c:v>
                  </c:pt>
                  <c:pt idx="3">
                    <c:v>Prior claims</c:v>
                  </c:pt>
                </c:lvl>
              </c:multiLvlStrCache>
            </c:multiLvlStrRef>
          </c:cat>
          <c:val>
            <c:numRef>
              <c:f>Sheet1!$C$2:$C$5</c:f>
              <c:numCache>
                <c:formatCode>General</c:formatCode>
                <c:ptCount val="4"/>
                <c:pt idx="0">
                  <c:v>20</c:v>
                </c:pt>
                <c:pt idx="1">
                  <c:v>16</c:v>
                </c:pt>
                <c:pt idx="2">
                  <c:v>4</c:v>
                </c:pt>
                <c:pt idx="3">
                  <c:v>35</c:v>
                </c:pt>
              </c:numCache>
            </c:numRef>
          </c:val>
        </c:ser>
        <c:dLbls>
          <c:numFmt formatCode="#,##0" sourceLinked="0"/>
          <c:txPr>
            <a:bodyPr/>
            <a:lstStyle/>
            <a:p>
              <a:pPr>
                <a:defRPr b="0" i="0" strike="noStrike" sz="1200" u="none">
                  <a:solidFill>
                    <a:srgbClr val="0B25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2530"/>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9525" cap="flat">
              <a:solidFill>
                <a:srgbClr val="DCE6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B25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Claims teams review historical claims by hand. This assistant finds comparable claims among 100 million, brings in Synapt's procedures, estimates three things, and writes a cited brief that a person reviews. It never approves, denies or pays a claim. Everything I show today ran live on the real dataset and the real Synapt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These are the three questions in the brief. Each maps to a capability, and I will show all three working. The sentence at the bottom is a design rule enforced in code: a validator blocks any recommendation that approves, denies, pays, or calls something proven 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 handler uses the React UI served by one FastAPI service. A LangGraph workflow runs eight stages and pauses for a person. Three stores each do what they can: the Parquet file is the authority for the 100 million claims, Synapt holds knowledge, SQLite holds runs and audit. Synapt cannot hold 100 million claims through its text-ingestion tool, so we put the right data in the right place. Models write the brief; a second, different model judges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Search never loads the file into memory. DuckDB scans it and only a few hundred candidates reach Python. Two rules matter: a comparable claim must have been settled before the new claim was filed, and the pending rows store their duration as NaN, not null, which the SQL handles. During live testing I found the keyword leg ranked Synapt's odd outliers above exact matches, because IDF rewards rare terms. I removed IDF and added a regression test that fails on the old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Synapt holds procedures, a stratified 1,000-card sample of the 100 million claims, and handler lessons. It cannot hold all 100 million: its ingestion takes about 100 cards per call and each call takes minutes. The surprise was masking. I uploaded one probe document with a dozen identifier formats, read back what survived, and redesigned the IDs. The chart is the honest measurement: when I ask Synapt for cards similar to a claim, they match its claim type about 1.7 times as often as chance and its amount band about 1.5 times, and are no better than chance on prior claims (60 queries, no failures). Dense embeddings are weak on numeric attributes, so I weighted it down and show its picks separately instead of letting them displace better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Switch to the running app. Submit the Auto theft example. It returns in about fifteen seconds. Point at: the police-report gap cited to a Synapt procedure; the priority score where every point is attributed; and the independent review, which arrives afterwards because it runs in the background. Then accept the brief, rate it, promote the lesson as the administrator, and run the claim again to show the lesson cited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Models are trained on a repeatable 200,000-row sample of the 100 million, split by filing date so the test period is strictly later. The 3,000-row slice I started with made the fraud model weak; the larger sample made it useful. The explanations are the part to emphasise: global direction of effect, in plain language, and for each claim what moved its estimate. All associations, none causal.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Three kinds of assurance. Evaluated: golden cases and DeepEval, plus a second model judging every live brief. Guarded: strict input checks, mandatory citations, and a validator that caught the model writing that a document had been provided when only its name was received; the brief was held for manual review, and a prompt fix cut that from one in four to none in four. Learning: handler feedback becomes cited evidence, and I verified the Synapt ingestion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limits are real and documented. The data is synthetic. Synapt holds a thousand cards, not a hundred million, so its semantic leg is a mild signal that I measured rather than assumed. The fraud model is a screening aid. Next steps are about scale and about evaluating on real handler runs. Close on the design principle: evidence informs, a person decides.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BA"/>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100" dirty="0">
                <a:solidFill>
                  <a:srgbClr val="5A6B73"/>
                </a:solidFill>
              </a:rPr>
              <a:t>AI-Powered Insurance Claims Assistant</a:t>
            </a:r>
            <a:endParaRPr lang="en-US" sz="1100" dirty="0"/>
          </a:p>
        </p:txBody>
      </p:sp>
      <p:sp>
        <p:nvSpPr>
          <p:cNvPr id="3" name="Text 1"/>
          <p:cNvSpPr/>
          <p:nvPr>
            <p:ph idx="101" type="title" hasCustomPrompt="1"/>
          </p:nvPr>
        </p:nvSpPr>
        <p:spPr>
          <a:xfrm>
            <a:off x="548640" y="320040"/>
            <a:ext cx="11064240" cy="8686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B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106070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AI-Powered Insurance Claims Assistant</a:t>
            </a:r>
            <a:endParaRPr lang="en-US" sz="4400" dirty="0"/>
          </a:p>
        </p:txBody>
      </p:sp>
      <p:sp>
        <p:nvSpPr>
          <p:cNvPr id="3" name="Text 1"/>
          <p:cNvSpPr txBox="1"/>
          <p:nvPr/>
        </p:nvSpPr>
        <p:spPr>
          <a:xfrm>
            <a:off x="731520" y="2514600"/>
            <a:ext cx="9601200" cy="822960"/>
          </a:xfrm>
          <a:prstGeom prst="rect">
            <a:avLst/>
          </a:prstGeom>
          <a:noFill/>
          <a:ln/>
        </p:spPr>
        <p:txBody>
          <a:bodyPr wrap="square" lIns="0" tIns="0" rIns="0" bIns="0" rtlCol="0" anchor="ctr"/>
          <a:lstStyle/>
          <a:p>
            <a:pPr indent="0" marL="0">
              <a:buNone/>
            </a:pPr>
            <a:r>
              <a:rPr lang="en-US" sz="2200" dirty="0">
                <a:solidFill>
                  <a:srgbClr val="CFE3E6"/>
                </a:solidFill>
              </a:rPr>
              <a:t>Evidence-led investigation over 100 million claims, with Synapt knowledge and a human review gate</a:t>
            </a:r>
            <a:endParaRPr lang="en-US" sz="2200" dirty="0"/>
          </a:p>
        </p:txBody>
      </p:sp>
      <p:sp>
        <p:nvSpPr>
          <p:cNvPr id="4" name="Shape 2"/>
          <p:cNvSpPr/>
          <p:nvPr/>
        </p:nvSpPr>
        <p:spPr>
          <a:xfrm>
            <a:off x="731520" y="4069080"/>
            <a:ext cx="3383280" cy="1463040"/>
          </a:xfrm>
          <a:prstGeom prst="roundRect">
            <a:avLst>
              <a:gd name="adj" fmla="val 7500"/>
            </a:avLst>
          </a:prstGeom>
          <a:solidFill>
            <a:srgbClr val="0E4A57"/>
          </a:solidFill>
          <a:ln w="12700">
            <a:solidFill>
              <a:srgbClr val="0E4A57"/>
            </a:solidFill>
            <a:prstDash val="solid"/>
          </a:ln>
        </p:spPr>
      </p:sp>
      <p:sp>
        <p:nvSpPr>
          <p:cNvPr id="5" name="Text 3"/>
          <p:cNvSpPr txBox="1"/>
          <p:nvPr/>
        </p:nvSpPr>
        <p:spPr>
          <a:xfrm>
            <a:off x="1005840" y="4206240"/>
            <a:ext cx="2834640" cy="731520"/>
          </a:xfrm>
          <a:prstGeom prst="rect">
            <a:avLst/>
          </a:prstGeom>
          <a:noFill/>
          <a:ln/>
        </p:spPr>
        <p:txBody>
          <a:bodyPr wrap="square" lIns="0" tIns="0" rIns="0" bIns="0" rtlCol="0" anchor="ctr"/>
          <a:lstStyle/>
          <a:p>
            <a:pPr indent="0" marL="0">
              <a:buNone/>
            </a:pPr>
            <a:r>
              <a:rPr lang="en-US" sz="3400" b="1" dirty="0">
                <a:solidFill>
                  <a:srgbClr val="F2A93B"/>
                </a:solidFill>
                <a:latin typeface="Cambria" pitchFamily="34" charset="0"/>
                <a:ea typeface="Cambria" pitchFamily="34" charset="-122"/>
                <a:cs typeface="Cambria" pitchFamily="34" charset="-120"/>
              </a:rPr>
              <a:t>100 million</a:t>
            </a:r>
            <a:endParaRPr lang="en-US" sz="3400" dirty="0"/>
          </a:p>
        </p:txBody>
      </p:sp>
      <p:sp>
        <p:nvSpPr>
          <p:cNvPr id="6" name="Text 4"/>
          <p:cNvSpPr txBox="1"/>
          <p:nvPr/>
        </p:nvSpPr>
        <p:spPr>
          <a:xfrm>
            <a:off x="1005840" y="4937760"/>
            <a:ext cx="2834640" cy="457200"/>
          </a:xfrm>
          <a:prstGeom prst="rect">
            <a:avLst/>
          </a:prstGeom>
          <a:noFill/>
          <a:ln/>
        </p:spPr>
        <p:txBody>
          <a:bodyPr wrap="square" lIns="0" tIns="0" rIns="0" bIns="0" rtlCol="0" anchor="ctr"/>
          <a:lstStyle/>
          <a:p>
            <a:pPr indent="0" marL="0">
              <a:buNone/>
            </a:pPr>
            <a:r>
              <a:rPr lang="en-US" sz="1600" dirty="0">
                <a:solidFill>
                  <a:srgbClr val="FFFFFF"/>
                </a:solidFill>
              </a:rPr>
              <a:t>claims queried in place</a:t>
            </a:r>
            <a:endParaRPr lang="en-US" sz="1600" dirty="0"/>
          </a:p>
        </p:txBody>
      </p:sp>
      <p:sp>
        <p:nvSpPr>
          <p:cNvPr id="7" name="Shape 5"/>
          <p:cNvSpPr/>
          <p:nvPr/>
        </p:nvSpPr>
        <p:spPr>
          <a:xfrm>
            <a:off x="4389120" y="4069080"/>
            <a:ext cx="3383280" cy="1463040"/>
          </a:xfrm>
          <a:prstGeom prst="roundRect">
            <a:avLst>
              <a:gd name="adj" fmla="val 7500"/>
            </a:avLst>
          </a:prstGeom>
          <a:solidFill>
            <a:srgbClr val="0E4A57"/>
          </a:solidFill>
          <a:ln w="12700">
            <a:solidFill>
              <a:srgbClr val="0E4A57"/>
            </a:solidFill>
            <a:prstDash val="solid"/>
          </a:ln>
        </p:spPr>
      </p:sp>
      <p:sp>
        <p:nvSpPr>
          <p:cNvPr id="8" name="Text 6"/>
          <p:cNvSpPr txBox="1"/>
          <p:nvPr/>
        </p:nvSpPr>
        <p:spPr>
          <a:xfrm>
            <a:off x="4663440" y="4206240"/>
            <a:ext cx="2834640" cy="731520"/>
          </a:xfrm>
          <a:prstGeom prst="rect">
            <a:avLst/>
          </a:prstGeom>
          <a:noFill/>
          <a:ln/>
        </p:spPr>
        <p:txBody>
          <a:bodyPr wrap="square" lIns="0" tIns="0" rIns="0" bIns="0" rtlCol="0" anchor="ctr"/>
          <a:lstStyle/>
          <a:p>
            <a:pPr indent="0" marL="0">
              <a:buNone/>
            </a:pPr>
            <a:r>
              <a:rPr lang="en-US" sz="3400" b="1" dirty="0">
                <a:solidFill>
                  <a:srgbClr val="F2A93B"/>
                </a:solidFill>
                <a:latin typeface="Cambria" pitchFamily="34" charset="0"/>
                <a:ea typeface="Cambria" pitchFamily="34" charset="-122"/>
                <a:cs typeface="Cambria" pitchFamily="34" charset="-120"/>
              </a:rPr>
              <a:t>1,000</a:t>
            </a:r>
            <a:endParaRPr lang="en-US" sz="3400" dirty="0"/>
          </a:p>
        </p:txBody>
      </p:sp>
      <p:sp>
        <p:nvSpPr>
          <p:cNvPr id="9" name="Text 7"/>
          <p:cNvSpPr txBox="1"/>
          <p:nvPr/>
        </p:nvSpPr>
        <p:spPr>
          <a:xfrm>
            <a:off x="4663440" y="4937760"/>
            <a:ext cx="2834640" cy="457200"/>
          </a:xfrm>
          <a:prstGeom prst="rect">
            <a:avLst/>
          </a:prstGeom>
          <a:noFill/>
          <a:ln/>
        </p:spPr>
        <p:txBody>
          <a:bodyPr wrap="square" lIns="0" tIns="0" rIns="0" bIns="0" rtlCol="0" anchor="ctr"/>
          <a:lstStyle/>
          <a:p>
            <a:pPr indent="0" marL="0">
              <a:buNone/>
            </a:pPr>
            <a:r>
              <a:rPr lang="en-US" sz="1600" dirty="0">
                <a:solidFill>
                  <a:srgbClr val="FFFFFF"/>
                </a:solidFill>
              </a:rPr>
              <a:t>claim cards in Synapt</a:t>
            </a:r>
            <a:endParaRPr lang="en-US" sz="1600" dirty="0"/>
          </a:p>
        </p:txBody>
      </p:sp>
      <p:sp>
        <p:nvSpPr>
          <p:cNvPr id="10" name="Shape 8"/>
          <p:cNvSpPr/>
          <p:nvPr/>
        </p:nvSpPr>
        <p:spPr>
          <a:xfrm>
            <a:off x="8046720" y="4069080"/>
            <a:ext cx="3383280" cy="1463040"/>
          </a:xfrm>
          <a:prstGeom prst="roundRect">
            <a:avLst>
              <a:gd name="adj" fmla="val 7500"/>
            </a:avLst>
          </a:prstGeom>
          <a:solidFill>
            <a:srgbClr val="0E4A57"/>
          </a:solidFill>
          <a:ln w="12700">
            <a:solidFill>
              <a:srgbClr val="0E4A57"/>
            </a:solidFill>
            <a:prstDash val="solid"/>
          </a:ln>
        </p:spPr>
      </p:sp>
      <p:sp>
        <p:nvSpPr>
          <p:cNvPr id="11" name="Text 9"/>
          <p:cNvSpPr txBox="1"/>
          <p:nvPr/>
        </p:nvSpPr>
        <p:spPr>
          <a:xfrm>
            <a:off x="8321040" y="4206240"/>
            <a:ext cx="2834640" cy="731520"/>
          </a:xfrm>
          <a:prstGeom prst="rect">
            <a:avLst/>
          </a:prstGeom>
          <a:noFill/>
          <a:ln/>
        </p:spPr>
        <p:txBody>
          <a:bodyPr wrap="square" lIns="0" tIns="0" rIns="0" bIns="0" rtlCol="0" anchor="ctr"/>
          <a:lstStyle/>
          <a:p>
            <a:pPr indent="0" marL="0">
              <a:buNone/>
            </a:pPr>
            <a:r>
              <a:rPr lang="en-US" sz="3400" b="1" dirty="0">
                <a:solidFill>
                  <a:srgbClr val="F2A93B"/>
                </a:solidFill>
                <a:latin typeface="Cambria" pitchFamily="34" charset="0"/>
                <a:ea typeface="Cambria" pitchFamily="34" charset="-122"/>
                <a:cs typeface="Cambria" pitchFamily="34" charset="-120"/>
              </a:rPr>
              <a:t>8 stages</a:t>
            </a:r>
            <a:endParaRPr lang="en-US" sz="3400" dirty="0"/>
          </a:p>
        </p:txBody>
      </p:sp>
      <p:sp>
        <p:nvSpPr>
          <p:cNvPr id="12" name="Text 10"/>
          <p:cNvSpPr txBox="1"/>
          <p:nvPr/>
        </p:nvSpPr>
        <p:spPr>
          <a:xfrm>
            <a:off x="8321040" y="4937760"/>
            <a:ext cx="2834640" cy="457200"/>
          </a:xfrm>
          <a:prstGeom prst="rect">
            <a:avLst/>
          </a:prstGeom>
          <a:noFill/>
          <a:ln/>
        </p:spPr>
        <p:txBody>
          <a:bodyPr wrap="square" lIns="0" tIns="0" rIns="0" bIns="0" rtlCol="0" anchor="ctr"/>
          <a:lstStyle/>
          <a:p>
            <a:pPr indent="0" marL="0">
              <a:buNone/>
            </a:pPr>
            <a:r>
              <a:rPr lang="en-US" sz="1600" dirty="0">
                <a:solidFill>
                  <a:srgbClr val="FFFFFF"/>
                </a:solidFill>
              </a:rPr>
              <a:t>and one human gate</a:t>
            </a:r>
            <a:endParaRPr lang="en-US" sz="1600" dirty="0"/>
          </a:p>
        </p:txBody>
      </p:sp>
      <p:sp>
        <p:nvSpPr>
          <p:cNvPr id="13" name="Text 11"/>
          <p:cNvSpPr txBox="1"/>
          <p:nvPr/>
        </p:nvSpPr>
        <p:spPr>
          <a:xfrm>
            <a:off x="731520" y="6126480"/>
            <a:ext cx="5486400" cy="320040"/>
          </a:xfrm>
          <a:prstGeom prst="rect">
            <a:avLst/>
          </a:prstGeom>
          <a:noFill/>
          <a:ln/>
        </p:spPr>
        <p:txBody>
          <a:bodyPr wrap="square" lIns="0" tIns="0" rIns="0" bIns="0" rtlCol="0" anchor="ctr"/>
          <a:lstStyle/>
          <a:p>
            <a:pPr indent="0" marL="0">
              <a:buNone/>
            </a:pPr>
            <a:r>
              <a:rPr lang="en-US" sz="1400" dirty="0">
                <a:solidFill>
                  <a:srgbClr val="9FB3BA"/>
                </a:solidFill>
              </a:rPr>
              <a:t>Capstone panel  |  10 minutes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BA"/>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Three questions every handler asks</a:t>
            </a:r>
            <a:endParaRPr lang="en-US" sz="3200" dirty="0"/>
          </a:p>
        </p:txBody>
      </p:sp>
      <p:sp>
        <p:nvSpPr>
          <p:cNvPr id="3" name="Shape 1"/>
          <p:cNvSpPr/>
          <p:nvPr/>
        </p:nvSpPr>
        <p:spPr>
          <a:xfrm>
            <a:off x="548640" y="1463040"/>
            <a:ext cx="3483864" cy="4160520"/>
          </a:xfrm>
          <a:prstGeom prst="roundRect">
            <a:avLst>
              <a:gd name="adj" fmla="val 315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4" name="badge 1"/>
          <p:cNvSpPr/>
          <p:nvPr/>
        </p:nvSpPr>
        <p:spPr>
          <a:xfrm>
            <a:off x="822960" y="1737360"/>
            <a:ext cx="457200" cy="457200"/>
          </a:xfrm>
          <a:prstGeom prst="ellipse">
            <a:avLst/>
          </a:prstGeom>
          <a:solidFill>
            <a:srgbClr val="0E7C86"/>
          </a:solidFill>
          <a:ln w="12700">
            <a:solidFill>
              <a:srgbClr val="0E7C86"/>
            </a:solidFill>
            <a:prstDash val="solid"/>
          </a:ln>
        </p:spPr>
      </p:sp>
      <p:sp>
        <p:nvSpPr>
          <p:cNvPr id="5" name="Text 3"/>
          <p:cNvSpPr txBox="1"/>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822960" y="2331720"/>
            <a:ext cx="2971800" cy="1325880"/>
          </a:xfrm>
          <a:prstGeom prst="rect">
            <a:avLst/>
          </a:prstGeom>
          <a:noFill/>
          <a:ln/>
        </p:spPr>
        <p:txBody>
          <a:bodyPr wrap="square" lIns="0" tIns="0" rIns="0" bIns="0" rtlCol="0" anchor="t"/>
          <a:lstStyle/>
          <a:p>
            <a:pPr indent="0" marL="0">
              <a:buNone/>
            </a:pPr>
            <a:r>
              <a:rPr lang="en-US" sz="2000" b="1" dirty="0">
                <a:solidFill>
                  <a:srgbClr val="0B2530"/>
                </a:solidFill>
              </a:rPr>
              <a:t>Has a similar claim been processed, and how did it end?</a:t>
            </a:r>
            <a:endParaRPr lang="en-US" sz="2000" dirty="0"/>
          </a:p>
        </p:txBody>
      </p:sp>
      <p:sp>
        <p:nvSpPr>
          <p:cNvPr id="7" name="Text 5"/>
          <p:cNvSpPr txBox="1"/>
          <p:nvPr/>
        </p:nvSpPr>
        <p:spPr>
          <a:xfrm>
            <a:off x="822960" y="3703320"/>
            <a:ext cx="2971800" cy="1371600"/>
          </a:xfrm>
          <a:prstGeom prst="rect">
            <a:avLst/>
          </a:prstGeom>
          <a:noFill/>
          <a:ln/>
        </p:spPr>
        <p:txBody>
          <a:bodyPr wrap="square" lIns="0" tIns="0" rIns="0" bIns="0" rtlCol="0" anchor="t"/>
          <a:lstStyle/>
          <a:p>
            <a:pPr indent="0" marL="0">
              <a:buNone/>
            </a:pPr>
            <a:r>
              <a:rPr lang="en-US" sz="1400" dirty="0">
                <a:solidFill>
                  <a:srgbClr val="5A6B73"/>
                </a:solidFill>
              </a:rPr>
              <a:t>Filters, keyword, numeric and Synapt semantic ranks are fused over 100 million claims. Outcomes shown, with the rule that only already-settled claims count.</a:t>
            </a:r>
            <a:endParaRPr lang="en-US" sz="1400" dirty="0"/>
          </a:p>
        </p:txBody>
      </p:sp>
      <p:sp>
        <p:nvSpPr>
          <p:cNvPr id="8" name="Text 6"/>
          <p:cNvSpPr txBox="1"/>
          <p:nvPr/>
        </p:nvSpPr>
        <p:spPr>
          <a:xfrm>
            <a:off x="822960" y="5120640"/>
            <a:ext cx="2971800" cy="320040"/>
          </a:xfrm>
          <a:prstGeom prst="rect">
            <a:avLst/>
          </a:prstGeom>
          <a:noFill/>
          <a:ln/>
        </p:spPr>
        <p:txBody>
          <a:bodyPr wrap="square" lIns="0" tIns="0" rIns="0" bIns="0" rtlCol="0" anchor="ctr"/>
          <a:lstStyle/>
          <a:p>
            <a:pPr indent="0" marL="0">
              <a:buNone/>
            </a:pPr>
            <a:r>
              <a:rPr lang="en-US" sz="1400" b="1" dirty="0">
                <a:solidFill>
                  <a:srgbClr val="0E7C86"/>
                </a:solidFill>
              </a:rPr>
              <a:t>Hybrid retrieval</a:t>
            </a:r>
            <a:endParaRPr lang="en-US" sz="1400" dirty="0"/>
          </a:p>
        </p:txBody>
      </p:sp>
      <p:sp>
        <p:nvSpPr>
          <p:cNvPr id="9" name="Shape 7"/>
          <p:cNvSpPr/>
          <p:nvPr/>
        </p:nvSpPr>
        <p:spPr>
          <a:xfrm>
            <a:off x="4352544" y="1463040"/>
            <a:ext cx="3483864" cy="4160520"/>
          </a:xfrm>
          <a:prstGeom prst="roundRect">
            <a:avLst>
              <a:gd name="adj" fmla="val 315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10" name="badge 2"/>
          <p:cNvSpPr/>
          <p:nvPr/>
        </p:nvSpPr>
        <p:spPr>
          <a:xfrm>
            <a:off x="4626864" y="1737360"/>
            <a:ext cx="457200" cy="457200"/>
          </a:xfrm>
          <a:prstGeom prst="ellipse">
            <a:avLst/>
          </a:prstGeom>
          <a:solidFill>
            <a:srgbClr val="0E7C86"/>
          </a:solidFill>
          <a:ln w="12700">
            <a:solidFill>
              <a:srgbClr val="0E7C86"/>
            </a:solidFill>
            <a:prstDash val="solid"/>
          </a:ln>
        </p:spPr>
      </p:sp>
      <p:sp>
        <p:nvSpPr>
          <p:cNvPr id="11" name="Text 9"/>
          <p:cNvSpPr txBox="1"/>
          <p:nvPr/>
        </p:nvSpPr>
        <p:spPr>
          <a:xfrm>
            <a:off x="4626864"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4626864" y="2331720"/>
            <a:ext cx="2971800" cy="1325880"/>
          </a:xfrm>
          <a:prstGeom prst="rect">
            <a:avLst/>
          </a:prstGeom>
          <a:noFill/>
          <a:ln/>
        </p:spPr>
        <p:txBody>
          <a:bodyPr wrap="square" lIns="0" tIns="0" rIns="0" bIns="0" rtlCol="0" anchor="t"/>
          <a:lstStyle/>
          <a:p>
            <a:pPr indent="0" marL="0">
              <a:buNone/>
            </a:pPr>
            <a:r>
              <a:rPr lang="en-US" sz="2000" b="1" dirty="0">
                <a:solidFill>
                  <a:srgbClr val="0B2530"/>
                </a:solidFill>
              </a:rPr>
              <a:t>What makes claims larger, or slower to resolve?</a:t>
            </a:r>
            <a:endParaRPr lang="en-US" sz="2000" dirty="0"/>
          </a:p>
        </p:txBody>
      </p:sp>
      <p:sp>
        <p:nvSpPr>
          <p:cNvPr id="13" name="Text 11"/>
          <p:cNvSpPr txBox="1"/>
          <p:nvPr/>
        </p:nvSpPr>
        <p:spPr>
          <a:xfrm>
            <a:off x="4626864" y="3703320"/>
            <a:ext cx="2971800" cy="1371600"/>
          </a:xfrm>
          <a:prstGeom prst="rect">
            <a:avLst/>
          </a:prstGeom>
          <a:noFill/>
          <a:ln/>
        </p:spPr>
        <p:txBody>
          <a:bodyPr wrap="square" lIns="0" tIns="0" rIns="0" bIns="0" rtlCol="0" anchor="t"/>
          <a:lstStyle/>
          <a:p>
            <a:pPr indent="0" marL="0">
              <a:buNone/>
            </a:pPr>
            <a:r>
              <a:rPr lang="en-US" sz="1400" dirty="0">
                <a:solidFill>
                  <a:srgbClr val="5A6B73"/>
                </a:solidFill>
              </a:rPr>
              <a:t>Amount and resolution models explain themselves: the direction of each effect, and what moved this claim from a typical one.</a:t>
            </a:r>
            <a:endParaRPr lang="en-US" sz="1400" dirty="0"/>
          </a:p>
        </p:txBody>
      </p:sp>
      <p:sp>
        <p:nvSpPr>
          <p:cNvPr id="14" name="Text 12"/>
          <p:cNvSpPr txBox="1"/>
          <p:nvPr/>
        </p:nvSpPr>
        <p:spPr>
          <a:xfrm>
            <a:off x="4626864" y="5120640"/>
            <a:ext cx="2971800" cy="320040"/>
          </a:xfrm>
          <a:prstGeom prst="rect">
            <a:avLst/>
          </a:prstGeom>
          <a:noFill/>
          <a:ln/>
        </p:spPr>
        <p:txBody>
          <a:bodyPr wrap="square" lIns="0" tIns="0" rIns="0" bIns="0" rtlCol="0" anchor="ctr"/>
          <a:lstStyle/>
          <a:p>
            <a:pPr indent="0" marL="0">
              <a:buNone/>
            </a:pPr>
            <a:r>
              <a:rPr lang="en-US" sz="1400" b="1" dirty="0">
                <a:solidFill>
                  <a:srgbClr val="0E7C86"/>
                </a:solidFill>
              </a:rPr>
              <a:t>Explainable models</a:t>
            </a:r>
            <a:endParaRPr lang="en-US" sz="1400" dirty="0"/>
          </a:p>
        </p:txBody>
      </p:sp>
      <p:sp>
        <p:nvSpPr>
          <p:cNvPr id="15" name="Shape 13"/>
          <p:cNvSpPr/>
          <p:nvPr/>
        </p:nvSpPr>
        <p:spPr>
          <a:xfrm>
            <a:off x="8156448" y="1463040"/>
            <a:ext cx="3483864" cy="4160520"/>
          </a:xfrm>
          <a:prstGeom prst="roundRect">
            <a:avLst>
              <a:gd name="adj" fmla="val 315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16" name="badge 3"/>
          <p:cNvSpPr/>
          <p:nvPr/>
        </p:nvSpPr>
        <p:spPr>
          <a:xfrm>
            <a:off x="8430768" y="1737360"/>
            <a:ext cx="457200" cy="457200"/>
          </a:xfrm>
          <a:prstGeom prst="ellipse">
            <a:avLst/>
          </a:prstGeom>
          <a:solidFill>
            <a:srgbClr val="0E7C86"/>
          </a:solidFill>
          <a:ln w="12700">
            <a:solidFill>
              <a:srgbClr val="0E7C86"/>
            </a:solidFill>
            <a:prstDash val="solid"/>
          </a:ln>
        </p:spPr>
      </p:sp>
      <p:sp>
        <p:nvSpPr>
          <p:cNvPr id="17" name="Text 15"/>
          <p:cNvSpPr txBox="1"/>
          <p:nvPr/>
        </p:nvSpPr>
        <p:spPr>
          <a:xfrm>
            <a:off x="8430768"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6"/>
          <p:cNvSpPr txBox="1"/>
          <p:nvPr/>
        </p:nvSpPr>
        <p:spPr>
          <a:xfrm>
            <a:off x="8430768" y="2331720"/>
            <a:ext cx="2971800" cy="1325880"/>
          </a:xfrm>
          <a:prstGeom prst="rect">
            <a:avLst/>
          </a:prstGeom>
          <a:noFill/>
          <a:ln/>
        </p:spPr>
        <p:txBody>
          <a:bodyPr wrap="square" lIns="0" tIns="0" rIns="0" bIns="0" rtlCol="0" anchor="t"/>
          <a:lstStyle/>
          <a:p>
            <a:pPr indent="0" marL="0">
              <a:buNone/>
            </a:pPr>
            <a:r>
              <a:rPr lang="en-US" sz="2000" b="1" dirty="0">
                <a:solidFill>
                  <a:srgbClr val="0B2530"/>
                </a:solidFill>
              </a:rPr>
              <a:t>Does it resemble claims flagged as fraud?</a:t>
            </a:r>
            <a:endParaRPr lang="en-US" sz="2000" dirty="0"/>
          </a:p>
        </p:txBody>
      </p:sp>
      <p:sp>
        <p:nvSpPr>
          <p:cNvPr id="19" name="Text 17"/>
          <p:cNvSpPr txBox="1"/>
          <p:nvPr/>
        </p:nvSpPr>
        <p:spPr>
          <a:xfrm>
            <a:off x="8430768" y="3703320"/>
            <a:ext cx="2971800" cy="1371600"/>
          </a:xfrm>
          <a:prstGeom prst="rect">
            <a:avLst/>
          </a:prstGeom>
          <a:noFill/>
          <a:ln/>
        </p:spPr>
        <p:txBody>
          <a:bodyPr wrap="square" lIns="0" tIns="0" rIns="0" bIns="0" rtlCol="0" anchor="t"/>
          <a:lstStyle/>
          <a:p>
            <a:pPr indent="0" marL="0">
              <a:buNone/>
            </a:pPr>
            <a:r>
              <a:rPr lang="en-US" sz="1400" dirty="0">
                <a:solidFill>
                  <a:srgbClr val="5A6B73"/>
                </a:solidFill>
              </a:rPr>
              <a:t>A fraud-flag model, the flag rate among the closest historical claims, and an audited priority score. A signal to investigate, never a verdict.</a:t>
            </a:r>
            <a:endParaRPr lang="en-US" sz="1400" dirty="0"/>
          </a:p>
        </p:txBody>
      </p:sp>
      <p:sp>
        <p:nvSpPr>
          <p:cNvPr id="20" name="Text 18"/>
          <p:cNvSpPr txBox="1"/>
          <p:nvPr/>
        </p:nvSpPr>
        <p:spPr>
          <a:xfrm>
            <a:off x="8430768" y="5120640"/>
            <a:ext cx="2971800" cy="320040"/>
          </a:xfrm>
          <a:prstGeom prst="rect">
            <a:avLst/>
          </a:prstGeom>
          <a:noFill/>
          <a:ln/>
        </p:spPr>
        <p:txBody>
          <a:bodyPr wrap="square" lIns="0" tIns="0" rIns="0" bIns="0" rtlCol="0" anchor="ctr"/>
          <a:lstStyle/>
          <a:p>
            <a:pPr indent="0" marL="0">
              <a:buNone/>
            </a:pPr>
            <a:r>
              <a:rPr lang="en-US" sz="1400" b="1" dirty="0">
                <a:solidFill>
                  <a:srgbClr val="0E7C86"/>
                </a:solidFill>
              </a:rPr>
              <a:t>Risk and priority</a:t>
            </a:r>
            <a:endParaRPr lang="en-US" sz="1400" dirty="0"/>
          </a:p>
        </p:txBody>
      </p:sp>
      <p:sp>
        <p:nvSpPr>
          <p:cNvPr id="21" name="Text 19"/>
          <p:cNvSpPr txBox="1"/>
          <p:nvPr/>
        </p:nvSpPr>
        <p:spPr>
          <a:xfrm>
            <a:off x="548640" y="5852160"/>
            <a:ext cx="11064240" cy="365760"/>
          </a:xfrm>
          <a:prstGeom prst="rect">
            <a:avLst/>
          </a:prstGeom>
          <a:noFill/>
          <a:ln/>
        </p:spPr>
        <p:txBody>
          <a:bodyPr wrap="square" lIns="0" tIns="0" rIns="0" bIns="0" rtlCol="0" anchor="ctr"/>
          <a:lstStyle/>
          <a:p>
            <a:pPr indent="0" marL="0">
              <a:buNone/>
            </a:pPr>
            <a:r>
              <a:rPr lang="en-US" sz="1800" i="1" dirty="0">
                <a:solidFill>
                  <a:srgbClr val="0E4A57"/>
                </a:solidFill>
              </a:rPr>
              <a:t>Nothing here approves, denies or pays a claim. The handler decides.</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One service, three stores, one human gate</a:t>
            </a:r>
            <a:endParaRPr lang="en-US" sz="3200" dirty="0"/>
          </a:p>
        </p:txBody>
      </p:sp>
      <p:pic>
        <p:nvPicPr>
          <p:cNvPr id="3" name="Architecture diagram" descr="Architecture: UI, FastAPI, LangGraph workflow, Parquet, Synapt, models, NVIDIA NIM, SQLite and the feedback loop">    </p:cNvPr>
          <p:cNvPicPr>
            <a:picLocks noChangeAspect="1"/>
          </p:cNvPicPr>
          <p:nvPr/>
        </p:nvPicPr>
        <p:blipFill>
          <a:blip r:embed="rId1"/>
          <a:stretch>
            <a:fillRect/>
          </a:stretch>
        </p:blipFill>
        <p:spPr>
          <a:xfrm>
            <a:off x="548640" y="1280160"/>
            <a:ext cx="7498080" cy="5038344"/>
          </a:xfrm>
          <a:prstGeom prst="rect">
            <a:avLst/>
          </a:prstGeom>
        </p:spPr>
      </p:pic>
      <p:sp>
        <p:nvSpPr>
          <p:cNvPr id="4" name="badge 1"/>
          <p:cNvSpPr/>
          <p:nvPr/>
        </p:nvSpPr>
        <p:spPr>
          <a:xfrm>
            <a:off x="8412480" y="1417320"/>
            <a:ext cx="411480" cy="411480"/>
          </a:xfrm>
          <a:prstGeom prst="ellipse">
            <a:avLst/>
          </a:prstGeom>
          <a:solidFill>
            <a:srgbClr val="0E7C86"/>
          </a:solidFill>
          <a:ln w="12700">
            <a:solidFill>
              <a:srgbClr val="0E7C86"/>
            </a:solidFill>
            <a:prstDash val="solid"/>
          </a:ln>
        </p:spPr>
      </p:sp>
      <p:sp>
        <p:nvSpPr>
          <p:cNvPr id="5" name="Text 2"/>
          <p:cNvSpPr txBox="1"/>
          <p:nvPr/>
        </p:nvSpPr>
        <p:spPr>
          <a:xfrm>
            <a:off x="8412480" y="14173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3"/>
          <p:cNvSpPr txBox="1"/>
          <p:nvPr/>
        </p:nvSpPr>
        <p:spPr>
          <a:xfrm>
            <a:off x="9006840" y="1399032"/>
            <a:ext cx="2651760" cy="411480"/>
          </a:xfrm>
          <a:prstGeom prst="rect">
            <a:avLst/>
          </a:prstGeom>
          <a:noFill/>
          <a:ln/>
        </p:spPr>
        <p:txBody>
          <a:bodyPr wrap="square" lIns="0" tIns="0" rIns="0" bIns="0" rtlCol="0" anchor="ctr"/>
          <a:lstStyle/>
          <a:p>
            <a:pPr indent="0" marL="0">
              <a:buNone/>
            </a:pPr>
            <a:r>
              <a:rPr lang="en-US" sz="1800" b="1" dirty="0">
                <a:solidFill>
                  <a:srgbClr val="0B2530"/>
                </a:solidFill>
              </a:rPr>
              <a:t>Parquet, 100M rows</a:t>
            </a:r>
            <a:endParaRPr lang="en-US" sz="1800" dirty="0"/>
          </a:p>
        </p:txBody>
      </p:sp>
      <p:sp>
        <p:nvSpPr>
          <p:cNvPr id="7" name="Text 4"/>
          <p:cNvSpPr txBox="1"/>
          <p:nvPr/>
        </p:nvSpPr>
        <p:spPr>
          <a:xfrm>
            <a:off x="9006840" y="1828800"/>
            <a:ext cx="2651760" cy="960120"/>
          </a:xfrm>
          <a:prstGeom prst="rect">
            <a:avLst/>
          </a:prstGeom>
          <a:noFill/>
          <a:ln/>
        </p:spPr>
        <p:txBody>
          <a:bodyPr wrap="square" lIns="0" tIns="0" rIns="0" bIns="0" rtlCol="0" anchor="t"/>
          <a:lstStyle/>
          <a:p>
            <a:pPr indent="0" marL="0">
              <a:buNone/>
            </a:pPr>
            <a:r>
              <a:rPr lang="en-US" sz="1400" dirty="0">
                <a:solidFill>
                  <a:srgbClr val="5A6B73"/>
                </a:solidFill>
              </a:rPr>
              <a:t>Authoritative for filters, similar claims, every number shown, and model training.</a:t>
            </a:r>
            <a:endParaRPr lang="en-US" sz="1400" dirty="0"/>
          </a:p>
        </p:txBody>
      </p:sp>
      <p:sp>
        <p:nvSpPr>
          <p:cNvPr id="8" name="badge 2"/>
          <p:cNvSpPr/>
          <p:nvPr/>
        </p:nvSpPr>
        <p:spPr>
          <a:xfrm>
            <a:off x="8412480" y="3017520"/>
            <a:ext cx="411480" cy="411480"/>
          </a:xfrm>
          <a:prstGeom prst="ellipse">
            <a:avLst/>
          </a:prstGeom>
          <a:solidFill>
            <a:srgbClr val="0E7C86"/>
          </a:solidFill>
          <a:ln w="12700">
            <a:solidFill>
              <a:srgbClr val="0E7C86"/>
            </a:solidFill>
            <a:prstDash val="solid"/>
          </a:ln>
        </p:spPr>
      </p:sp>
      <p:sp>
        <p:nvSpPr>
          <p:cNvPr id="9" name="Text 6"/>
          <p:cNvSpPr txBox="1"/>
          <p:nvPr/>
        </p:nvSpPr>
        <p:spPr>
          <a:xfrm>
            <a:off x="8412480" y="30175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7"/>
          <p:cNvSpPr txBox="1"/>
          <p:nvPr/>
        </p:nvSpPr>
        <p:spPr>
          <a:xfrm>
            <a:off x="9006840" y="2999232"/>
            <a:ext cx="2651760" cy="411480"/>
          </a:xfrm>
          <a:prstGeom prst="rect">
            <a:avLst/>
          </a:prstGeom>
          <a:noFill/>
          <a:ln/>
        </p:spPr>
        <p:txBody>
          <a:bodyPr wrap="square" lIns="0" tIns="0" rIns="0" bIns="0" rtlCol="0" anchor="ctr"/>
          <a:lstStyle/>
          <a:p>
            <a:pPr indent="0" marL="0">
              <a:buNone/>
            </a:pPr>
            <a:r>
              <a:rPr lang="en-US" sz="1800" b="1" dirty="0">
                <a:solidFill>
                  <a:srgbClr val="0B2530"/>
                </a:solidFill>
              </a:rPr>
              <a:t>Synapt, over MCP</a:t>
            </a:r>
            <a:endParaRPr lang="en-US" sz="1800" dirty="0"/>
          </a:p>
        </p:txBody>
      </p:sp>
      <p:sp>
        <p:nvSpPr>
          <p:cNvPr id="11" name="Text 8"/>
          <p:cNvSpPr txBox="1"/>
          <p:nvPr/>
        </p:nvSpPr>
        <p:spPr>
          <a:xfrm>
            <a:off x="9006840" y="3429000"/>
            <a:ext cx="2651760" cy="960120"/>
          </a:xfrm>
          <a:prstGeom prst="rect">
            <a:avLst/>
          </a:prstGeom>
          <a:noFill/>
          <a:ln/>
        </p:spPr>
        <p:txBody>
          <a:bodyPr wrap="square" lIns="0" tIns="0" rIns="0" bIns="0" rtlCol="0" anchor="t"/>
          <a:lstStyle/>
          <a:p>
            <a:pPr indent="0" marL="0">
              <a:buNone/>
            </a:pPr>
            <a:r>
              <a:rPr lang="en-US" sz="1400" dirty="0">
                <a:solidFill>
                  <a:srgbClr val="5A6B73"/>
                </a:solidFill>
              </a:rPr>
              <a:t>Procedures, 1,000 claim cards for semantic ranking, reviewed lessons.</a:t>
            </a:r>
            <a:endParaRPr lang="en-US" sz="1400" dirty="0"/>
          </a:p>
        </p:txBody>
      </p:sp>
      <p:sp>
        <p:nvSpPr>
          <p:cNvPr id="12" name="badge 3"/>
          <p:cNvSpPr/>
          <p:nvPr/>
        </p:nvSpPr>
        <p:spPr>
          <a:xfrm>
            <a:off x="8412480" y="4617720"/>
            <a:ext cx="411480" cy="411480"/>
          </a:xfrm>
          <a:prstGeom prst="ellipse">
            <a:avLst/>
          </a:prstGeom>
          <a:solidFill>
            <a:srgbClr val="F2A93B"/>
          </a:solidFill>
          <a:ln w="12700">
            <a:solidFill>
              <a:srgbClr val="F2A93B"/>
            </a:solidFill>
            <a:prstDash val="solid"/>
          </a:ln>
        </p:spPr>
      </p:sp>
      <p:sp>
        <p:nvSpPr>
          <p:cNvPr id="13" name="Text 10"/>
          <p:cNvSpPr txBox="1"/>
          <p:nvPr/>
        </p:nvSpPr>
        <p:spPr>
          <a:xfrm>
            <a:off x="8412480" y="46177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1"/>
          <p:cNvSpPr txBox="1"/>
          <p:nvPr/>
        </p:nvSpPr>
        <p:spPr>
          <a:xfrm>
            <a:off x="9006840" y="4599432"/>
            <a:ext cx="2651760" cy="411480"/>
          </a:xfrm>
          <a:prstGeom prst="rect">
            <a:avLst/>
          </a:prstGeom>
          <a:noFill/>
          <a:ln/>
        </p:spPr>
        <p:txBody>
          <a:bodyPr wrap="square" lIns="0" tIns="0" rIns="0" bIns="0" rtlCol="0" anchor="ctr"/>
          <a:lstStyle/>
          <a:p>
            <a:pPr indent="0" marL="0">
              <a:buNone/>
            </a:pPr>
            <a:r>
              <a:rPr lang="en-US" sz="1800" b="1" dirty="0">
                <a:solidFill>
                  <a:srgbClr val="0B2530"/>
                </a:solidFill>
              </a:rPr>
              <a:t>Human gate</a:t>
            </a:r>
            <a:endParaRPr lang="en-US" sz="1800" dirty="0"/>
          </a:p>
        </p:txBody>
      </p:sp>
      <p:sp>
        <p:nvSpPr>
          <p:cNvPr id="15" name="Text 12"/>
          <p:cNvSpPr txBox="1"/>
          <p:nvPr/>
        </p:nvSpPr>
        <p:spPr>
          <a:xfrm>
            <a:off x="9006840" y="5029200"/>
            <a:ext cx="2651760" cy="960120"/>
          </a:xfrm>
          <a:prstGeom prst="rect">
            <a:avLst/>
          </a:prstGeom>
          <a:noFill/>
          <a:ln/>
        </p:spPr>
        <p:txBody>
          <a:bodyPr wrap="square" lIns="0" tIns="0" rIns="0" bIns="0" rtlCol="0" anchor="t"/>
          <a:lstStyle/>
          <a:p>
            <a:pPr indent="0" marL="0">
              <a:buNone/>
            </a:pPr>
            <a:r>
              <a:rPr lang="en-US" sz="1400" dirty="0">
                <a:solidFill>
                  <a:srgbClr val="5A6B73"/>
                </a:solidFill>
              </a:rPr>
              <a:t>LangGraph pauses; the handler accepts or revises. Acceptance is blocked on failed validation.</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Hybrid search over 100 million claims in 3 to 5 seconds</a:t>
            </a:r>
            <a:endParaRPr lang="en-US" sz="3200" dirty="0"/>
          </a:p>
        </p:txBody>
      </p:sp>
      <p:sp>
        <p:nvSpPr>
          <p:cNvPr id="3" name="Shape 1"/>
          <p:cNvSpPr/>
          <p:nvPr/>
        </p:nvSpPr>
        <p:spPr>
          <a:xfrm>
            <a:off x="548640" y="1417320"/>
            <a:ext cx="3931920" cy="1188720"/>
          </a:xfrm>
          <a:prstGeom prst="roundRect">
            <a:avLst>
              <a:gd name="adj" fmla="val 9231"/>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77240" y="1527048"/>
            <a:ext cx="3474720" cy="594360"/>
          </a:xfrm>
          <a:prstGeom prst="rect">
            <a:avLst/>
          </a:prstGeom>
          <a:noFill/>
          <a:ln/>
        </p:spPr>
        <p:txBody>
          <a:bodyPr wrap="square" lIns="0" tIns="0" rIns="0" bIns="0" rtlCol="0" anchor="ctr"/>
          <a:lstStyle/>
          <a:p>
            <a:pPr indent="0" marL="0">
              <a:buNone/>
            </a:pPr>
            <a:r>
              <a:rPr lang="en-US" sz="3200" b="1" dirty="0">
                <a:solidFill>
                  <a:srgbClr val="0E4A57"/>
                </a:solidFill>
                <a:latin typeface="Cambria" pitchFamily="34" charset="0"/>
                <a:ea typeface="Cambria" pitchFamily="34" charset="-122"/>
                <a:cs typeface="Cambria" pitchFamily="34" charset="-120"/>
              </a:rPr>
              <a:t>100,000,000</a:t>
            </a:r>
            <a:endParaRPr lang="en-US" sz="3200" dirty="0"/>
          </a:p>
        </p:txBody>
      </p:sp>
      <p:sp>
        <p:nvSpPr>
          <p:cNvPr id="5" name="Text 3"/>
          <p:cNvSpPr txBox="1"/>
          <p:nvPr/>
        </p:nvSpPr>
        <p:spPr>
          <a:xfrm>
            <a:off x="777240" y="2130552"/>
            <a:ext cx="3474720" cy="365760"/>
          </a:xfrm>
          <a:prstGeom prst="rect">
            <a:avLst/>
          </a:prstGeom>
          <a:noFill/>
          <a:ln/>
        </p:spPr>
        <p:txBody>
          <a:bodyPr wrap="square" lIns="0" tIns="0" rIns="0" bIns="0" rtlCol="0" anchor="ctr"/>
          <a:lstStyle/>
          <a:p>
            <a:pPr indent="0" marL="0">
              <a:buNone/>
            </a:pPr>
            <a:r>
              <a:rPr lang="en-US" sz="1400" dirty="0">
                <a:solidFill>
                  <a:srgbClr val="5A6B73"/>
                </a:solidFill>
              </a:rPr>
              <a:t>claims, queried in place by DuckDB</a:t>
            </a:r>
            <a:endParaRPr lang="en-US" sz="1400" dirty="0"/>
          </a:p>
        </p:txBody>
      </p:sp>
      <p:sp>
        <p:nvSpPr>
          <p:cNvPr id="6" name="Shape 4"/>
          <p:cNvSpPr/>
          <p:nvPr/>
        </p:nvSpPr>
        <p:spPr>
          <a:xfrm>
            <a:off x="548640" y="2788920"/>
            <a:ext cx="3931920" cy="1188720"/>
          </a:xfrm>
          <a:prstGeom prst="roundRect">
            <a:avLst>
              <a:gd name="adj" fmla="val 9231"/>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777240" y="2898648"/>
            <a:ext cx="3474720" cy="594360"/>
          </a:xfrm>
          <a:prstGeom prst="rect">
            <a:avLst/>
          </a:prstGeom>
          <a:noFill/>
          <a:ln/>
        </p:spPr>
        <p:txBody>
          <a:bodyPr wrap="square" lIns="0" tIns="0" rIns="0" bIns="0" rtlCol="0" anchor="ctr"/>
          <a:lstStyle/>
          <a:p>
            <a:pPr indent="0" marL="0">
              <a:buNone/>
            </a:pPr>
            <a:r>
              <a:rPr lang="en-US" sz="3200" b="1" dirty="0">
                <a:solidFill>
                  <a:srgbClr val="0E4A57"/>
                </a:solidFill>
                <a:latin typeface="Cambria" pitchFamily="34" charset="0"/>
                <a:ea typeface="Cambria" pitchFamily="34" charset="-122"/>
                <a:cs typeface="Cambria" pitchFamily="34" charset="-120"/>
              </a:rPr>
              <a:t>3 to 5 s</a:t>
            </a:r>
            <a:endParaRPr lang="en-US" sz="3200" dirty="0"/>
          </a:p>
        </p:txBody>
      </p:sp>
      <p:sp>
        <p:nvSpPr>
          <p:cNvPr id="8" name="Text 6"/>
          <p:cNvSpPr txBox="1"/>
          <p:nvPr/>
        </p:nvSpPr>
        <p:spPr>
          <a:xfrm>
            <a:off x="777240" y="3502152"/>
            <a:ext cx="3474720" cy="365760"/>
          </a:xfrm>
          <a:prstGeom prst="rect">
            <a:avLst/>
          </a:prstGeom>
          <a:noFill/>
          <a:ln/>
        </p:spPr>
        <p:txBody>
          <a:bodyPr wrap="square" lIns="0" tIns="0" rIns="0" bIns="0" rtlCol="0" anchor="ctr"/>
          <a:lstStyle/>
          <a:p>
            <a:pPr indent="0" marL="0">
              <a:buNone/>
            </a:pPr>
            <a:r>
              <a:rPr lang="en-US" sz="1400" dirty="0">
                <a:solidFill>
                  <a:srgbClr val="5A6B73"/>
                </a:solidFill>
              </a:rPr>
              <a:t>per filtered, fused search</a:t>
            </a:r>
            <a:endParaRPr lang="en-US" sz="1400" dirty="0"/>
          </a:p>
        </p:txBody>
      </p:sp>
      <p:sp>
        <p:nvSpPr>
          <p:cNvPr id="9" name="Shape 7"/>
          <p:cNvSpPr/>
          <p:nvPr/>
        </p:nvSpPr>
        <p:spPr>
          <a:xfrm>
            <a:off x="548640" y="4160520"/>
            <a:ext cx="3931920" cy="1188720"/>
          </a:xfrm>
          <a:prstGeom prst="roundRect">
            <a:avLst>
              <a:gd name="adj" fmla="val 9231"/>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777240" y="4270248"/>
            <a:ext cx="3474720" cy="594360"/>
          </a:xfrm>
          <a:prstGeom prst="rect">
            <a:avLst/>
          </a:prstGeom>
          <a:noFill/>
          <a:ln/>
        </p:spPr>
        <p:txBody>
          <a:bodyPr wrap="square" lIns="0" tIns="0" rIns="0" bIns="0" rtlCol="0" anchor="ctr"/>
          <a:lstStyle/>
          <a:p>
            <a:pPr indent="0" marL="0">
              <a:buNone/>
            </a:pPr>
            <a:r>
              <a:rPr lang="en-US" sz="3200" b="1" dirty="0">
                <a:solidFill>
                  <a:srgbClr val="0E4A57"/>
                </a:solidFill>
                <a:latin typeface="Cambria" pitchFamily="34" charset="0"/>
                <a:ea typeface="Cambria" pitchFamily="34" charset="-122"/>
                <a:cs typeface="Cambria" pitchFamily="34" charset="-120"/>
              </a:rPr>
              <a:t>2.52 GB</a:t>
            </a:r>
            <a:endParaRPr lang="en-US" sz="3200" dirty="0"/>
          </a:p>
        </p:txBody>
      </p:sp>
      <p:sp>
        <p:nvSpPr>
          <p:cNvPr id="11" name="Text 9"/>
          <p:cNvSpPr txBox="1"/>
          <p:nvPr/>
        </p:nvSpPr>
        <p:spPr>
          <a:xfrm>
            <a:off x="777240" y="4873752"/>
            <a:ext cx="3474720" cy="365760"/>
          </a:xfrm>
          <a:prstGeom prst="rect">
            <a:avLst/>
          </a:prstGeom>
          <a:noFill/>
          <a:ln/>
        </p:spPr>
        <p:txBody>
          <a:bodyPr wrap="square" lIns="0" tIns="0" rIns="0" bIns="0" rtlCol="0" anchor="ctr"/>
          <a:lstStyle/>
          <a:p>
            <a:pPr indent="0" marL="0">
              <a:buNone/>
            </a:pPr>
            <a:r>
              <a:rPr lang="en-US" sz="1400" dirty="0">
                <a:solidFill>
                  <a:srgbClr val="5A6B73"/>
                </a:solidFill>
              </a:rPr>
              <a:t>one Parquet file, SHA256-verified</a:t>
            </a:r>
            <a:endParaRPr lang="en-US" sz="1400" dirty="0"/>
          </a:p>
        </p:txBody>
      </p:sp>
      <p:sp>
        <p:nvSpPr>
          <p:cNvPr id="12" name="badge 1"/>
          <p:cNvSpPr/>
          <p:nvPr/>
        </p:nvSpPr>
        <p:spPr>
          <a:xfrm>
            <a:off x="4937760" y="1417320"/>
            <a:ext cx="384048" cy="384048"/>
          </a:xfrm>
          <a:prstGeom prst="ellipse">
            <a:avLst/>
          </a:prstGeom>
          <a:solidFill>
            <a:srgbClr val="0E7C86"/>
          </a:solidFill>
          <a:ln w="12700">
            <a:solidFill>
              <a:srgbClr val="0E7C86"/>
            </a:solidFill>
            <a:prstDash val="solid"/>
          </a:ln>
        </p:spPr>
      </p:sp>
      <p:sp>
        <p:nvSpPr>
          <p:cNvPr id="13" name="Text 11"/>
          <p:cNvSpPr txBox="1"/>
          <p:nvPr/>
        </p:nvSpPr>
        <p:spPr>
          <a:xfrm>
            <a:off x="4937760" y="14173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4" name="Text 12"/>
          <p:cNvSpPr txBox="1"/>
          <p:nvPr/>
        </p:nvSpPr>
        <p:spPr>
          <a:xfrm>
            <a:off x="5486400" y="1380744"/>
            <a:ext cx="6126480" cy="365760"/>
          </a:xfrm>
          <a:prstGeom prst="rect">
            <a:avLst/>
          </a:prstGeom>
          <a:noFill/>
          <a:ln/>
        </p:spPr>
        <p:txBody>
          <a:bodyPr wrap="square" lIns="0" tIns="0" rIns="0" bIns="0" rtlCol="0" anchor="ctr"/>
          <a:lstStyle/>
          <a:p>
            <a:pPr indent="0" marL="0">
              <a:buNone/>
            </a:pPr>
            <a:r>
              <a:rPr lang="en-US" sz="1800" b="1" dirty="0">
                <a:solidFill>
                  <a:srgbClr val="0B2530"/>
                </a:solidFill>
              </a:rPr>
              <a:t>SQL filters and candidates</a:t>
            </a:r>
            <a:endParaRPr lang="en-US" sz="1800" dirty="0"/>
          </a:p>
        </p:txBody>
      </p:sp>
      <p:sp>
        <p:nvSpPr>
          <p:cNvPr id="15" name="Text 13"/>
          <p:cNvSpPr txBox="1"/>
          <p:nvPr/>
        </p:nvSpPr>
        <p:spPr>
          <a:xfrm>
            <a:off x="5486400" y="1746504"/>
            <a:ext cx="6126480" cy="502920"/>
          </a:xfrm>
          <a:prstGeom prst="rect">
            <a:avLst/>
          </a:prstGeom>
          <a:noFill/>
          <a:ln/>
        </p:spPr>
        <p:txBody>
          <a:bodyPr wrap="square" lIns="0" tIns="0" rIns="0" bIns="0" rtlCol="0" anchor="t"/>
          <a:lstStyle/>
          <a:p>
            <a:pPr indent="0" marL="0">
              <a:buNone/>
            </a:pPr>
            <a:r>
              <a:rPr lang="en-US" sz="1400" dirty="0">
                <a:solidFill>
                  <a:srgbClr val="5A6B73"/>
                </a:solidFill>
              </a:rPr>
              <a:t>Type, state, status, amount, history. Only claims settled before this one was filed qualify.</a:t>
            </a:r>
            <a:endParaRPr lang="en-US" sz="1400" dirty="0"/>
          </a:p>
        </p:txBody>
      </p:sp>
      <p:sp>
        <p:nvSpPr>
          <p:cNvPr id="16" name="badge 2"/>
          <p:cNvSpPr/>
          <p:nvPr/>
        </p:nvSpPr>
        <p:spPr>
          <a:xfrm>
            <a:off x="4937760" y="2377440"/>
            <a:ext cx="384048" cy="384048"/>
          </a:xfrm>
          <a:prstGeom prst="ellipse">
            <a:avLst/>
          </a:prstGeom>
          <a:solidFill>
            <a:srgbClr val="0E7C86"/>
          </a:solidFill>
          <a:ln w="12700">
            <a:solidFill>
              <a:srgbClr val="0E7C86"/>
            </a:solidFill>
            <a:prstDash val="solid"/>
          </a:ln>
        </p:spPr>
      </p:sp>
      <p:sp>
        <p:nvSpPr>
          <p:cNvPr id="17" name="Text 15"/>
          <p:cNvSpPr txBox="1"/>
          <p:nvPr/>
        </p:nvSpPr>
        <p:spPr>
          <a:xfrm>
            <a:off x="4937760" y="23774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8" name="Text 16"/>
          <p:cNvSpPr txBox="1"/>
          <p:nvPr/>
        </p:nvSpPr>
        <p:spPr>
          <a:xfrm>
            <a:off x="5486400" y="2340864"/>
            <a:ext cx="6126480" cy="365760"/>
          </a:xfrm>
          <a:prstGeom prst="rect">
            <a:avLst/>
          </a:prstGeom>
          <a:noFill/>
          <a:ln/>
        </p:spPr>
        <p:txBody>
          <a:bodyPr wrap="square" lIns="0" tIns="0" rIns="0" bIns="0" rtlCol="0" anchor="ctr"/>
          <a:lstStyle/>
          <a:p>
            <a:pPr indent="0" marL="0">
              <a:buNone/>
            </a:pPr>
            <a:r>
              <a:rPr lang="en-US" sz="1800" b="1" dirty="0">
                <a:solidFill>
                  <a:srgbClr val="0B2530"/>
                </a:solidFill>
              </a:rPr>
              <a:t>Synapt semantic ranking</a:t>
            </a:r>
            <a:endParaRPr lang="en-US" sz="1800" dirty="0"/>
          </a:p>
        </p:txBody>
      </p:sp>
      <p:sp>
        <p:nvSpPr>
          <p:cNvPr id="19" name="Text 17"/>
          <p:cNvSpPr txBox="1"/>
          <p:nvPr/>
        </p:nvSpPr>
        <p:spPr>
          <a:xfrm>
            <a:off x="5486400" y="2706624"/>
            <a:ext cx="6126480" cy="502920"/>
          </a:xfrm>
          <a:prstGeom prst="rect">
            <a:avLst/>
          </a:prstGeom>
          <a:noFill/>
          <a:ln/>
        </p:spPr>
        <p:txBody>
          <a:bodyPr wrap="square" lIns="0" tIns="0" rIns="0" bIns="0" rtlCol="0" anchor="t"/>
          <a:lstStyle/>
          <a:p>
            <a:pPr indent="0" marL="0">
              <a:buNone/>
            </a:pPr>
            <a:r>
              <a:rPr lang="en-US" sz="1400" dirty="0">
                <a:solidFill>
                  <a:srgbClr val="5A6B73"/>
                </a:solidFill>
              </a:rPr>
              <a:t>Cards similar to the claim; looked up under the same filters, so nothing bypasses them.</a:t>
            </a:r>
            <a:endParaRPr lang="en-US" sz="1400" dirty="0"/>
          </a:p>
        </p:txBody>
      </p:sp>
      <p:sp>
        <p:nvSpPr>
          <p:cNvPr id="20" name="badge 3"/>
          <p:cNvSpPr/>
          <p:nvPr/>
        </p:nvSpPr>
        <p:spPr>
          <a:xfrm>
            <a:off x="4937760" y="3337560"/>
            <a:ext cx="384048" cy="384048"/>
          </a:xfrm>
          <a:prstGeom prst="ellipse">
            <a:avLst/>
          </a:prstGeom>
          <a:solidFill>
            <a:srgbClr val="0E7C86"/>
          </a:solidFill>
          <a:ln w="12700">
            <a:solidFill>
              <a:srgbClr val="0E7C86"/>
            </a:solidFill>
            <a:prstDash val="solid"/>
          </a:ln>
        </p:spPr>
      </p:sp>
      <p:sp>
        <p:nvSpPr>
          <p:cNvPr id="21" name="Text 19"/>
          <p:cNvSpPr txBox="1"/>
          <p:nvPr/>
        </p:nvSpPr>
        <p:spPr>
          <a:xfrm>
            <a:off x="4937760" y="333756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2" name="Text 20"/>
          <p:cNvSpPr txBox="1"/>
          <p:nvPr/>
        </p:nvSpPr>
        <p:spPr>
          <a:xfrm>
            <a:off x="5486400" y="3300984"/>
            <a:ext cx="6126480" cy="365760"/>
          </a:xfrm>
          <a:prstGeom prst="rect">
            <a:avLst/>
          </a:prstGeom>
          <a:noFill/>
          <a:ln/>
        </p:spPr>
        <p:txBody>
          <a:bodyPr wrap="square" lIns="0" tIns="0" rIns="0" bIns="0" rtlCol="0" anchor="ctr"/>
          <a:lstStyle/>
          <a:p>
            <a:pPr indent="0" marL="0">
              <a:buNone/>
            </a:pPr>
            <a:r>
              <a:rPr lang="en-US" sz="1800" b="1" dirty="0">
                <a:solidFill>
                  <a:srgbClr val="0B2530"/>
                </a:solidFill>
              </a:rPr>
              <a:t>Reciprocal-rank fusion</a:t>
            </a:r>
            <a:endParaRPr lang="en-US" sz="1800" dirty="0"/>
          </a:p>
        </p:txBody>
      </p:sp>
      <p:sp>
        <p:nvSpPr>
          <p:cNvPr id="23" name="Text 21"/>
          <p:cNvSpPr txBox="1"/>
          <p:nvPr/>
        </p:nvSpPr>
        <p:spPr>
          <a:xfrm>
            <a:off x="5486400" y="3666744"/>
            <a:ext cx="6126480" cy="502920"/>
          </a:xfrm>
          <a:prstGeom prst="rect">
            <a:avLst/>
          </a:prstGeom>
          <a:noFill/>
          <a:ln/>
        </p:spPr>
        <p:txBody>
          <a:bodyPr wrap="square" lIns="0" tIns="0" rIns="0" bIns="0" rtlCol="0" anchor="t"/>
          <a:lstStyle/>
          <a:p>
            <a:pPr indent="0" marL="0">
              <a:buNone/>
            </a:pPr>
            <a:r>
              <a:rPr lang="en-US" sz="1400" dirty="0">
                <a:solidFill>
                  <a:srgbClr val="5A6B73"/>
                </a:solidFill>
              </a:rPr>
              <a:t>Keyword 1, numeric similarity 1, Synapt 0.5. The five closest come first.</a:t>
            </a:r>
            <a:endParaRPr lang="en-US" sz="1400" dirty="0"/>
          </a:p>
        </p:txBody>
      </p:sp>
      <p:sp>
        <p:nvSpPr>
          <p:cNvPr id="24" name="badge 4"/>
          <p:cNvSpPr/>
          <p:nvPr/>
        </p:nvSpPr>
        <p:spPr>
          <a:xfrm>
            <a:off x="4937760" y="4297680"/>
            <a:ext cx="384048" cy="384048"/>
          </a:xfrm>
          <a:prstGeom prst="ellipse">
            <a:avLst/>
          </a:prstGeom>
          <a:solidFill>
            <a:srgbClr val="0E7C86"/>
          </a:solidFill>
          <a:ln w="12700">
            <a:solidFill>
              <a:srgbClr val="0E7C86"/>
            </a:solidFill>
            <a:prstDash val="solid"/>
          </a:ln>
        </p:spPr>
      </p:sp>
      <p:sp>
        <p:nvSpPr>
          <p:cNvPr id="25" name="Text 23"/>
          <p:cNvSpPr txBox="1"/>
          <p:nvPr/>
        </p:nvSpPr>
        <p:spPr>
          <a:xfrm>
            <a:off x="4937760" y="42976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6" name="Text 24"/>
          <p:cNvSpPr txBox="1"/>
          <p:nvPr/>
        </p:nvSpPr>
        <p:spPr>
          <a:xfrm>
            <a:off x="5486400" y="4261104"/>
            <a:ext cx="6126480" cy="365760"/>
          </a:xfrm>
          <a:prstGeom prst="rect">
            <a:avLst/>
          </a:prstGeom>
          <a:noFill/>
          <a:ln/>
        </p:spPr>
        <p:txBody>
          <a:bodyPr wrap="square" lIns="0" tIns="0" rIns="0" bIns="0" rtlCol="0" anchor="ctr"/>
          <a:lstStyle/>
          <a:p>
            <a:pPr indent="0" marL="0">
              <a:buNone/>
            </a:pPr>
            <a:r>
              <a:rPr lang="en-US" sz="1800" b="1" dirty="0">
                <a:solidFill>
                  <a:srgbClr val="0B2530"/>
                </a:solidFill>
              </a:rPr>
              <a:t>Related by meaning</a:t>
            </a:r>
            <a:endParaRPr lang="en-US" sz="1800" dirty="0"/>
          </a:p>
        </p:txBody>
      </p:sp>
      <p:sp>
        <p:nvSpPr>
          <p:cNvPr id="27" name="Text 25"/>
          <p:cNvSpPr txBox="1"/>
          <p:nvPr/>
        </p:nvSpPr>
        <p:spPr>
          <a:xfrm>
            <a:off x="5486400" y="4626864"/>
            <a:ext cx="6126480" cy="502920"/>
          </a:xfrm>
          <a:prstGeom prst="rect">
            <a:avLst/>
          </a:prstGeom>
          <a:noFill/>
          <a:ln/>
        </p:spPr>
        <p:txBody>
          <a:bodyPr wrap="square" lIns="0" tIns="0" rIns="0" bIns="0" rtlCol="0" anchor="t"/>
          <a:lstStyle/>
          <a:p>
            <a:pPr indent="0" marL="0">
              <a:buNone/>
            </a:pPr>
            <a:r>
              <a:rPr lang="en-US" sz="1400" dirty="0">
                <a:solidFill>
                  <a:srgbClr val="5A6B73"/>
                </a:solidFill>
              </a:rPr>
              <a:t>Up to three more that Synapt ranks similar, labelled with their Synapt rank.</a:t>
            </a:r>
            <a:endParaRPr lang="en-US" sz="1400" dirty="0"/>
          </a:p>
        </p:txBody>
      </p:sp>
      <p:sp>
        <p:nvSpPr>
          <p:cNvPr id="28" name="Shape 26"/>
          <p:cNvSpPr/>
          <p:nvPr/>
        </p:nvSpPr>
        <p:spPr>
          <a:xfrm>
            <a:off x="4937760" y="5349240"/>
            <a:ext cx="6702552" cy="868680"/>
          </a:xfrm>
          <a:prstGeom prst="roundRect">
            <a:avLst>
              <a:gd name="adj" fmla="val 12632"/>
            </a:avLst>
          </a:prstGeom>
          <a:solidFill>
            <a:srgbClr val="FDF1DC"/>
          </a:solidFill>
          <a:ln w="12700">
            <a:solidFill>
              <a:srgbClr val="FDF1DC"/>
            </a:solidFill>
            <a:prstDash val="solid"/>
          </a:ln>
          <a:effectLst>
            <a:outerShdw sx="100000" sy="100000" kx="0" ky="0" algn="bl" rotWithShape="0" blurRad="101600" dist="25400" dir="5400000">
              <a:srgbClr val="000000">
                <a:alpha val="12000"/>
              </a:srgbClr>
            </a:outerShdw>
          </a:effectLst>
        </p:spPr>
      </p:sp>
      <p:sp>
        <p:nvSpPr>
          <p:cNvPr id="29" name="Text 27"/>
          <p:cNvSpPr txBox="1"/>
          <p:nvPr/>
        </p:nvSpPr>
        <p:spPr>
          <a:xfrm>
            <a:off x="5120640" y="5394960"/>
            <a:ext cx="6355080" cy="777240"/>
          </a:xfrm>
          <a:prstGeom prst="rect">
            <a:avLst/>
          </a:prstGeom>
          <a:noFill/>
          <a:ln/>
        </p:spPr>
        <p:txBody>
          <a:bodyPr wrap="square" lIns="0" tIns="0" rIns="0" bIns="0" rtlCol="0" anchor="ctr"/>
          <a:lstStyle/>
          <a:p>
            <a:pPr indent="0" marL="0">
              <a:buNone/>
            </a:pPr>
            <a:r>
              <a:rPr lang="en-US" sz="1500" b="1" dirty="0">
                <a:solidFill>
                  <a:srgbClr val="0B2530"/>
                </a:solidFill>
              </a:rPr>
              <a:t>Measured, not assumed. </a:t>
            </a:r>
            <a:pPr indent="0" marL="0">
              <a:buNone/>
            </a:pPr>
            <a:r>
              <a:rPr lang="en-US" sz="1500" dirty="0">
                <a:solidFill>
                  <a:srgbClr val="0B2530"/>
                </a:solidFill>
              </a:rPr>
              <a:t>Keyword IDF ranked a $3,393 New Jersey claim above exact $8,500 Texas matches. Removed, with a regression test.</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Synapt: what broke, and what we measured</a:t>
            </a:r>
            <a:endParaRPr lang="en-US" sz="3200" dirty="0"/>
          </a:p>
        </p:txBody>
      </p:sp>
      <p:sp>
        <p:nvSpPr>
          <p:cNvPr id="3" name="Shape 1"/>
          <p:cNvSpPr/>
          <p:nvPr/>
        </p:nvSpPr>
        <p:spPr>
          <a:xfrm>
            <a:off x="548640" y="1371600"/>
            <a:ext cx="5120640" cy="1371600"/>
          </a:xfrm>
          <a:prstGeom prst="roundRect">
            <a:avLst>
              <a:gd name="adj" fmla="val 800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777240" y="1481328"/>
            <a:ext cx="1188720" cy="365760"/>
          </a:xfrm>
          <a:prstGeom prst="rect">
            <a:avLst/>
          </a:prstGeom>
          <a:noFill/>
          <a:ln/>
        </p:spPr>
        <p:txBody>
          <a:bodyPr wrap="square" lIns="0" tIns="0" rIns="0" bIns="0" rtlCol="0" anchor="ctr"/>
          <a:lstStyle/>
          <a:p>
            <a:pPr indent="0" marL="0">
              <a:buNone/>
            </a:pPr>
            <a:r>
              <a:rPr lang="en-US" sz="1800" b="1" dirty="0">
                <a:solidFill>
                  <a:srgbClr val="0E4A57"/>
                </a:solidFill>
              </a:rPr>
              <a:t>Holds</a:t>
            </a:r>
            <a:endParaRPr lang="en-US" sz="1800" dirty="0"/>
          </a:p>
        </p:txBody>
      </p:sp>
      <p:sp>
        <p:nvSpPr>
          <p:cNvPr id="5" name="Text 3"/>
          <p:cNvSpPr txBox="1"/>
          <p:nvPr/>
        </p:nvSpPr>
        <p:spPr>
          <a:xfrm>
            <a:off x="777240" y="1847088"/>
            <a:ext cx="4663440" cy="868680"/>
          </a:xfrm>
          <a:prstGeom prst="rect">
            <a:avLst/>
          </a:prstGeom>
          <a:noFill/>
          <a:ln/>
        </p:spPr>
        <p:txBody>
          <a:bodyPr wrap="square" lIns="0" tIns="0" rIns="0" bIns="0" rtlCol="0" anchor="t"/>
          <a:lstStyle/>
          <a:p>
            <a:pPr indent="0" marL="0">
              <a:buNone/>
            </a:pPr>
            <a:r>
              <a:rPr lang="en-US" sz="1400" dirty="0">
                <a:solidFill>
                  <a:srgbClr val="0B2530"/>
                </a:solidFill>
              </a:rPr>
              <a:t>5 procedures, 1,000 claim cards (one per chunk), reviewed handler lessons.</a:t>
            </a:r>
            <a:endParaRPr lang="en-US" sz="1400" dirty="0"/>
          </a:p>
        </p:txBody>
      </p:sp>
      <p:sp>
        <p:nvSpPr>
          <p:cNvPr id="6" name="Shape 4"/>
          <p:cNvSpPr/>
          <p:nvPr/>
        </p:nvSpPr>
        <p:spPr>
          <a:xfrm>
            <a:off x="548640" y="2926080"/>
            <a:ext cx="5120640" cy="1371600"/>
          </a:xfrm>
          <a:prstGeom prst="roundRect">
            <a:avLst>
              <a:gd name="adj" fmla="val 8000"/>
            </a:avLst>
          </a:prstGeom>
          <a:solidFill>
            <a:srgbClr val="FBE7E5"/>
          </a:solidFill>
          <a:ln w="12700">
            <a:solidFill>
              <a:srgbClr val="FBE7E5"/>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777240" y="3035808"/>
            <a:ext cx="1188720" cy="365760"/>
          </a:xfrm>
          <a:prstGeom prst="rect">
            <a:avLst/>
          </a:prstGeom>
          <a:noFill/>
          <a:ln/>
        </p:spPr>
        <p:txBody>
          <a:bodyPr wrap="square" lIns="0" tIns="0" rIns="0" bIns="0" rtlCol="0" anchor="ctr"/>
          <a:lstStyle/>
          <a:p>
            <a:pPr indent="0" marL="0">
              <a:buNone/>
            </a:pPr>
            <a:r>
              <a:rPr lang="en-US" sz="1800" b="1" dirty="0">
                <a:solidFill>
                  <a:srgbClr val="D9534F"/>
                </a:solidFill>
              </a:rPr>
              <a:t>Broke</a:t>
            </a:r>
            <a:endParaRPr lang="en-US" sz="1800" dirty="0"/>
          </a:p>
        </p:txBody>
      </p:sp>
      <p:sp>
        <p:nvSpPr>
          <p:cNvPr id="8" name="Text 6"/>
          <p:cNvSpPr txBox="1"/>
          <p:nvPr/>
        </p:nvSpPr>
        <p:spPr>
          <a:xfrm>
            <a:off x="777240" y="3401568"/>
            <a:ext cx="4663440" cy="868680"/>
          </a:xfrm>
          <a:prstGeom prst="rect">
            <a:avLst/>
          </a:prstGeom>
          <a:noFill/>
          <a:ln/>
        </p:spPr>
        <p:txBody>
          <a:bodyPr wrap="square" lIns="0" tIns="0" rIns="0" bIns="0" rtlCol="0" anchor="t"/>
          <a:lstStyle/>
          <a:p>
            <a:pPr indent="0" marL="0">
              <a:buNone/>
            </a:pPr>
            <a:r>
              <a:rPr lang="en-US" sz="1400" dirty="0">
                <a:solidFill>
                  <a:srgbClr val="0B2530"/>
                </a:solidFill>
              </a:rPr>
              <a:t>Synapt masks personal-looking text: digit IDs became phone numbers, upper-case IDs became organisations, state names became locations.</a:t>
            </a:r>
            <a:endParaRPr lang="en-US" sz="1400" dirty="0"/>
          </a:p>
        </p:txBody>
      </p:sp>
      <p:sp>
        <p:nvSpPr>
          <p:cNvPr id="9" name="Shape 7"/>
          <p:cNvSpPr/>
          <p:nvPr/>
        </p:nvSpPr>
        <p:spPr>
          <a:xfrm>
            <a:off x="548640" y="4480560"/>
            <a:ext cx="5120640" cy="1371600"/>
          </a:xfrm>
          <a:prstGeom prst="roundRect">
            <a:avLst>
              <a:gd name="adj" fmla="val 800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777240" y="4590288"/>
            <a:ext cx="1188720" cy="365760"/>
          </a:xfrm>
          <a:prstGeom prst="rect">
            <a:avLst/>
          </a:prstGeom>
          <a:noFill/>
          <a:ln/>
        </p:spPr>
        <p:txBody>
          <a:bodyPr wrap="square" lIns="0" tIns="0" rIns="0" bIns="0" rtlCol="0" anchor="ctr"/>
          <a:lstStyle/>
          <a:p>
            <a:pPr indent="0" marL="0">
              <a:buNone/>
            </a:pPr>
            <a:r>
              <a:rPr lang="en-US" sz="1800" b="1" dirty="0">
                <a:solidFill>
                  <a:srgbClr val="0E4A57"/>
                </a:solidFill>
              </a:rPr>
              <a:t>Fixed</a:t>
            </a:r>
            <a:endParaRPr lang="en-US" sz="1800" dirty="0"/>
          </a:p>
        </p:txBody>
      </p:sp>
      <p:sp>
        <p:nvSpPr>
          <p:cNvPr id="11" name="Text 9"/>
          <p:cNvSpPr txBox="1"/>
          <p:nvPr/>
        </p:nvSpPr>
        <p:spPr>
          <a:xfrm>
            <a:off x="777240" y="4956048"/>
            <a:ext cx="4663440" cy="868680"/>
          </a:xfrm>
          <a:prstGeom prst="rect">
            <a:avLst/>
          </a:prstGeom>
          <a:noFill/>
          <a:ln/>
        </p:spPr>
        <p:txBody>
          <a:bodyPr wrap="square" lIns="0" tIns="0" rIns="0" bIns="0" rtlCol="0" anchor="t"/>
          <a:lstStyle/>
          <a:p>
            <a:pPr indent="0" marL="0">
              <a:buNone/>
            </a:pPr>
            <a:r>
              <a:rPr lang="en-US" sz="1400" dirty="0">
                <a:solidFill>
                  <a:srgbClr val="0B2530"/>
                </a:solidFill>
              </a:rPr>
              <a:t>Letters-only lower-case aliases, an opaque region token, one card per chunk. Found with a probe document, verified on 1,000 uploads.</a:t>
            </a:r>
            <a:endParaRPr lang="en-US" sz="1400" dirty="0"/>
          </a:p>
        </p:txBody>
      </p:sp>
      <p:graphicFrame>
        <p:nvGraphicFramePr>
          <p:cNvPr id="12" name="Chart 0" descr=""/>
          <p:cNvGraphicFramePr/>
          <p:nvPr/>
        </p:nvGraphicFramePr>
        <p:xfrm>
          <a:off x="5989320" y="128016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5989320" y="5486400"/>
            <a:ext cx="5669280" cy="731520"/>
          </a:xfrm>
          <a:prstGeom prst="rect">
            <a:avLst/>
          </a:prstGeom>
          <a:noFill/>
          <a:ln/>
        </p:spPr>
        <p:txBody>
          <a:bodyPr wrap="square" lIns="0" tIns="0" rIns="0" bIns="0" rtlCol="0" anchor="t"/>
          <a:lstStyle/>
          <a:p>
            <a:pPr indent="0" marL="0">
              <a:buNone/>
            </a:pPr>
            <a:r>
              <a:rPr lang="en-US" sz="1400" i="1" dirty="0">
                <a:solidFill>
                  <a:srgbClr val="0E4A57"/>
                </a:solidFill>
              </a:rPr>
              <a:t>A real but mild signal: about 1.7x chance on type and state, 1.5x on amount band, none on prior claims. That is why its weight is 0.5 and its extra picks are shown separately.</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Live: an auto-theft claim, from intake to a reviewed lesson</a:t>
            </a:r>
            <a:endParaRPr lang="en-US" sz="3200" dirty="0"/>
          </a:p>
        </p:txBody>
      </p:sp>
      <p:sp>
        <p:nvSpPr>
          <p:cNvPr id="3" name="badge 1"/>
          <p:cNvSpPr/>
          <p:nvPr/>
        </p:nvSpPr>
        <p:spPr>
          <a:xfrm>
            <a:off x="548640" y="1371600"/>
            <a:ext cx="411480" cy="411480"/>
          </a:xfrm>
          <a:prstGeom prst="ellipse">
            <a:avLst/>
          </a:prstGeom>
          <a:solidFill>
            <a:srgbClr val="0E7C86"/>
          </a:solidFill>
          <a:ln w="12700">
            <a:solidFill>
              <a:srgbClr val="0E7C86"/>
            </a:solidFill>
            <a:prstDash val="solid"/>
          </a:ln>
        </p:spPr>
      </p:sp>
      <p:sp>
        <p:nvSpPr>
          <p:cNvPr id="4" name="Text 2"/>
          <p:cNvSpPr txBox="1"/>
          <p:nvPr/>
        </p:nvSpPr>
        <p:spPr>
          <a:xfrm>
            <a:off x="548640" y="13716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5" name="Text 3"/>
          <p:cNvSpPr txBox="1"/>
          <p:nvPr/>
        </p:nvSpPr>
        <p:spPr>
          <a:xfrm>
            <a:off x="1188720" y="1325880"/>
            <a:ext cx="4480560" cy="365760"/>
          </a:xfrm>
          <a:prstGeom prst="rect">
            <a:avLst/>
          </a:prstGeom>
          <a:noFill/>
          <a:ln/>
        </p:spPr>
        <p:txBody>
          <a:bodyPr wrap="square" lIns="0" tIns="0" rIns="0" bIns="0" rtlCol="0" anchor="ctr"/>
          <a:lstStyle/>
          <a:p>
            <a:pPr indent="0" marL="0">
              <a:buNone/>
            </a:pPr>
            <a:r>
              <a:rPr lang="en-US" sz="1800" b="1" dirty="0">
                <a:solidFill>
                  <a:srgbClr val="0B2530"/>
                </a:solidFill>
              </a:rPr>
              <a:t>Intake</a:t>
            </a:r>
            <a:endParaRPr lang="en-US" sz="1800" dirty="0"/>
          </a:p>
        </p:txBody>
      </p:sp>
      <p:sp>
        <p:nvSpPr>
          <p:cNvPr id="6" name="Text 4"/>
          <p:cNvSpPr txBox="1"/>
          <p:nvPr/>
        </p:nvSpPr>
        <p:spPr>
          <a:xfrm>
            <a:off x="1188720" y="1700784"/>
            <a:ext cx="4480560" cy="594360"/>
          </a:xfrm>
          <a:prstGeom prst="rect">
            <a:avLst/>
          </a:prstGeom>
          <a:noFill/>
          <a:ln/>
        </p:spPr>
        <p:txBody>
          <a:bodyPr wrap="square" lIns="0" tIns="0" rIns="0" bIns="0" rtlCol="0" anchor="t"/>
          <a:lstStyle/>
          <a:p>
            <a:pPr indent="0" marL="0">
              <a:buNone/>
            </a:pPr>
            <a:r>
              <a:rPr lang="en-US" sz="1400" dirty="0">
                <a:solidFill>
                  <a:srgbClr val="5A6B73"/>
                </a:solidFill>
              </a:rPr>
              <a:t>Pick the example, or type a claim. Invalid input is refused with a clear reason.</a:t>
            </a:r>
            <a:endParaRPr lang="en-US" sz="1400" dirty="0"/>
          </a:p>
        </p:txBody>
      </p:sp>
      <p:sp>
        <p:nvSpPr>
          <p:cNvPr id="7" name="badge 2"/>
          <p:cNvSpPr/>
          <p:nvPr/>
        </p:nvSpPr>
        <p:spPr>
          <a:xfrm>
            <a:off x="548640" y="2350008"/>
            <a:ext cx="411480" cy="411480"/>
          </a:xfrm>
          <a:prstGeom prst="ellipse">
            <a:avLst/>
          </a:prstGeom>
          <a:solidFill>
            <a:srgbClr val="0E7C86"/>
          </a:solidFill>
          <a:ln w="12700">
            <a:solidFill>
              <a:srgbClr val="0E7C86"/>
            </a:solidFill>
            <a:prstDash val="solid"/>
          </a:ln>
        </p:spPr>
      </p:sp>
      <p:sp>
        <p:nvSpPr>
          <p:cNvPr id="8" name="Text 6"/>
          <p:cNvSpPr txBox="1"/>
          <p:nvPr/>
        </p:nvSpPr>
        <p:spPr>
          <a:xfrm>
            <a:off x="548640" y="235000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Text 7"/>
          <p:cNvSpPr txBox="1"/>
          <p:nvPr/>
        </p:nvSpPr>
        <p:spPr>
          <a:xfrm>
            <a:off x="1188720" y="2304288"/>
            <a:ext cx="4480560" cy="365760"/>
          </a:xfrm>
          <a:prstGeom prst="rect">
            <a:avLst/>
          </a:prstGeom>
          <a:noFill/>
          <a:ln/>
        </p:spPr>
        <p:txBody>
          <a:bodyPr wrap="square" lIns="0" tIns="0" rIns="0" bIns="0" rtlCol="0" anchor="ctr"/>
          <a:lstStyle/>
          <a:p>
            <a:pPr indent="0" marL="0">
              <a:buNone/>
            </a:pPr>
            <a:r>
              <a:rPr lang="en-US" sz="1800" b="1" dirty="0">
                <a:solidFill>
                  <a:srgbClr val="0B2530"/>
                </a:solidFill>
              </a:rPr>
              <a:t>Brief in about 15 s</a:t>
            </a:r>
            <a:endParaRPr lang="en-US" sz="1800" dirty="0"/>
          </a:p>
        </p:txBody>
      </p:sp>
      <p:sp>
        <p:nvSpPr>
          <p:cNvPr id="10" name="Text 8"/>
          <p:cNvSpPr txBox="1"/>
          <p:nvPr/>
        </p:nvSpPr>
        <p:spPr>
          <a:xfrm>
            <a:off x="1188720" y="2679192"/>
            <a:ext cx="4480560" cy="594360"/>
          </a:xfrm>
          <a:prstGeom prst="rect">
            <a:avLst/>
          </a:prstGeom>
          <a:noFill/>
          <a:ln/>
        </p:spPr>
        <p:txBody>
          <a:bodyPr wrap="square" lIns="0" tIns="0" rIns="0" bIns="0" rtlCol="0" anchor="t"/>
          <a:lstStyle/>
          <a:p>
            <a:pPr indent="0" marL="0">
              <a:buNone/>
            </a:pPr>
            <a:r>
              <a:rPr lang="en-US" sz="1400" dirty="0">
                <a:solidFill>
                  <a:srgbClr val="5A6B73"/>
                </a:solidFill>
              </a:rPr>
              <a:t>Cited gap: a police report, from a Synapt procedure. Documents are only ever 'reported available'.</a:t>
            </a:r>
            <a:endParaRPr lang="en-US" sz="1400" dirty="0"/>
          </a:p>
        </p:txBody>
      </p:sp>
      <p:sp>
        <p:nvSpPr>
          <p:cNvPr id="11" name="badge 3"/>
          <p:cNvSpPr/>
          <p:nvPr/>
        </p:nvSpPr>
        <p:spPr>
          <a:xfrm>
            <a:off x="548640" y="3328416"/>
            <a:ext cx="411480" cy="411480"/>
          </a:xfrm>
          <a:prstGeom prst="ellipse">
            <a:avLst/>
          </a:prstGeom>
          <a:solidFill>
            <a:srgbClr val="0E7C86"/>
          </a:solidFill>
          <a:ln w="12700">
            <a:solidFill>
              <a:srgbClr val="0E7C86"/>
            </a:solidFill>
            <a:prstDash val="solid"/>
          </a:ln>
        </p:spPr>
      </p:sp>
      <p:sp>
        <p:nvSpPr>
          <p:cNvPr id="12" name="Text 10"/>
          <p:cNvSpPr txBox="1"/>
          <p:nvPr/>
        </p:nvSpPr>
        <p:spPr>
          <a:xfrm>
            <a:off x="548640" y="3328416"/>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3" name="Text 11"/>
          <p:cNvSpPr txBox="1"/>
          <p:nvPr/>
        </p:nvSpPr>
        <p:spPr>
          <a:xfrm>
            <a:off x="1188720" y="3282696"/>
            <a:ext cx="4480560" cy="365760"/>
          </a:xfrm>
          <a:prstGeom prst="rect">
            <a:avLst/>
          </a:prstGeom>
          <a:noFill/>
          <a:ln/>
        </p:spPr>
        <p:txBody>
          <a:bodyPr wrap="square" lIns="0" tIns="0" rIns="0" bIns="0" rtlCol="0" anchor="ctr"/>
          <a:lstStyle/>
          <a:p>
            <a:pPr indent="0" marL="0">
              <a:buNone/>
            </a:pPr>
            <a:r>
              <a:rPr lang="en-US" sz="1800" b="1" dirty="0">
                <a:solidFill>
                  <a:srgbClr val="0B2530"/>
                </a:solidFill>
              </a:rPr>
              <a:t>Priority 55 of 100, High</a:t>
            </a:r>
            <a:endParaRPr lang="en-US" sz="1800" dirty="0"/>
          </a:p>
        </p:txBody>
      </p:sp>
      <p:sp>
        <p:nvSpPr>
          <p:cNvPr id="14" name="Text 12"/>
          <p:cNvSpPr txBox="1"/>
          <p:nvPr/>
        </p:nvSpPr>
        <p:spPr>
          <a:xfrm>
            <a:off x="1188720" y="3657600"/>
            <a:ext cx="4480560" cy="594360"/>
          </a:xfrm>
          <a:prstGeom prst="rect">
            <a:avLst/>
          </a:prstGeom>
          <a:noFill/>
          <a:ln/>
        </p:spPr>
        <p:txBody>
          <a:bodyPr wrap="square" lIns="0" tIns="0" rIns="0" bIns="0" rtlCol="0" anchor="t"/>
          <a:lstStyle/>
          <a:p>
            <a:pPr indent="0" marL="0">
              <a:buNone/>
            </a:pPr>
            <a:r>
              <a:rPr lang="en-US" sz="1400" dirty="0">
                <a:solidFill>
                  <a:srgbClr val="5A6B73"/>
                </a:solidFill>
              </a:rPr>
              <a:t>Each point attributed: amount, 17-day delay, 3 prior claims, a gap, the fraud signal.</a:t>
            </a:r>
            <a:endParaRPr lang="en-US" sz="1400" dirty="0"/>
          </a:p>
        </p:txBody>
      </p:sp>
      <p:sp>
        <p:nvSpPr>
          <p:cNvPr id="15" name="badge 4"/>
          <p:cNvSpPr/>
          <p:nvPr/>
        </p:nvSpPr>
        <p:spPr>
          <a:xfrm>
            <a:off x="548640" y="4306824"/>
            <a:ext cx="411480" cy="411480"/>
          </a:xfrm>
          <a:prstGeom prst="ellipse">
            <a:avLst/>
          </a:prstGeom>
          <a:solidFill>
            <a:srgbClr val="0E7C86"/>
          </a:solidFill>
          <a:ln w="12700">
            <a:solidFill>
              <a:srgbClr val="0E7C86"/>
            </a:solidFill>
            <a:prstDash val="solid"/>
          </a:ln>
        </p:spPr>
      </p:sp>
      <p:sp>
        <p:nvSpPr>
          <p:cNvPr id="16" name="Text 14"/>
          <p:cNvSpPr txBox="1"/>
          <p:nvPr/>
        </p:nvSpPr>
        <p:spPr>
          <a:xfrm>
            <a:off x="548640" y="4306824"/>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7" name="Text 15"/>
          <p:cNvSpPr txBox="1"/>
          <p:nvPr/>
        </p:nvSpPr>
        <p:spPr>
          <a:xfrm>
            <a:off x="1188720" y="4261104"/>
            <a:ext cx="4480560" cy="365760"/>
          </a:xfrm>
          <a:prstGeom prst="rect">
            <a:avLst/>
          </a:prstGeom>
          <a:noFill/>
          <a:ln/>
        </p:spPr>
        <p:txBody>
          <a:bodyPr wrap="square" lIns="0" tIns="0" rIns="0" bIns="0" rtlCol="0" anchor="ctr"/>
          <a:lstStyle/>
          <a:p>
            <a:pPr indent="0" marL="0">
              <a:buNone/>
            </a:pPr>
            <a:r>
              <a:rPr lang="en-US" sz="1800" b="1" dirty="0">
                <a:solidFill>
                  <a:srgbClr val="0B2530"/>
                </a:solidFill>
              </a:rPr>
              <a:t>Independent review</a:t>
            </a:r>
            <a:endParaRPr lang="en-US" sz="1800" dirty="0"/>
          </a:p>
        </p:txBody>
      </p:sp>
      <p:sp>
        <p:nvSpPr>
          <p:cNvPr id="18" name="Text 16"/>
          <p:cNvSpPr txBox="1"/>
          <p:nvPr/>
        </p:nvSpPr>
        <p:spPr>
          <a:xfrm>
            <a:off x="1188720" y="4636008"/>
            <a:ext cx="4480560" cy="594360"/>
          </a:xfrm>
          <a:prstGeom prst="rect">
            <a:avLst/>
          </a:prstGeom>
          <a:noFill/>
          <a:ln/>
        </p:spPr>
        <p:txBody>
          <a:bodyPr wrap="square" lIns="0" tIns="0" rIns="0" bIns="0" rtlCol="0" anchor="t"/>
          <a:lstStyle/>
          <a:p>
            <a:pPr indent="0" marL="0">
              <a:buNone/>
            </a:pPr>
            <a:r>
              <a:rPr lang="en-US" sz="1400" dirty="0">
                <a:solidFill>
                  <a:srgbClr val="5A6B73"/>
                </a:solidFill>
              </a:rPr>
              <a:t>A second model judges the brief in the background and appears when ready.</a:t>
            </a:r>
            <a:endParaRPr lang="en-US" sz="1400" dirty="0"/>
          </a:p>
        </p:txBody>
      </p:sp>
      <p:sp>
        <p:nvSpPr>
          <p:cNvPr id="19" name="badge 5"/>
          <p:cNvSpPr/>
          <p:nvPr/>
        </p:nvSpPr>
        <p:spPr>
          <a:xfrm>
            <a:off x="548640" y="5285232"/>
            <a:ext cx="411480" cy="411480"/>
          </a:xfrm>
          <a:prstGeom prst="ellipse">
            <a:avLst/>
          </a:prstGeom>
          <a:solidFill>
            <a:srgbClr val="F2A93B"/>
          </a:solidFill>
          <a:ln w="12700">
            <a:solidFill>
              <a:srgbClr val="F2A93B"/>
            </a:solidFill>
            <a:prstDash val="solid"/>
          </a:ln>
        </p:spPr>
      </p:sp>
      <p:sp>
        <p:nvSpPr>
          <p:cNvPr id="20" name="Text 18"/>
          <p:cNvSpPr txBox="1"/>
          <p:nvPr/>
        </p:nvSpPr>
        <p:spPr>
          <a:xfrm>
            <a:off x="548640" y="5285232"/>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1" name="Text 19"/>
          <p:cNvSpPr txBox="1"/>
          <p:nvPr/>
        </p:nvSpPr>
        <p:spPr>
          <a:xfrm>
            <a:off x="1188720" y="5239512"/>
            <a:ext cx="4480560" cy="365760"/>
          </a:xfrm>
          <a:prstGeom prst="rect">
            <a:avLst/>
          </a:prstGeom>
          <a:noFill/>
          <a:ln/>
        </p:spPr>
        <p:txBody>
          <a:bodyPr wrap="square" lIns="0" tIns="0" rIns="0" bIns="0" rtlCol="0" anchor="ctr"/>
          <a:lstStyle/>
          <a:p>
            <a:pPr indent="0" marL="0">
              <a:buNone/>
            </a:pPr>
            <a:r>
              <a:rPr lang="en-US" sz="1800" b="1" dirty="0">
                <a:solidFill>
                  <a:srgbClr val="0B2530"/>
                </a:solidFill>
              </a:rPr>
              <a:t>Review, feedback, promote</a:t>
            </a:r>
            <a:endParaRPr lang="en-US" sz="1800" dirty="0"/>
          </a:p>
        </p:txBody>
      </p:sp>
      <p:sp>
        <p:nvSpPr>
          <p:cNvPr id="22" name="Text 20"/>
          <p:cNvSpPr txBox="1"/>
          <p:nvPr/>
        </p:nvSpPr>
        <p:spPr>
          <a:xfrm>
            <a:off x="1188720" y="5614416"/>
            <a:ext cx="4480560" cy="594360"/>
          </a:xfrm>
          <a:prstGeom prst="rect">
            <a:avLst/>
          </a:prstGeom>
          <a:noFill/>
          <a:ln/>
        </p:spPr>
        <p:txBody>
          <a:bodyPr wrap="square" lIns="0" tIns="0" rIns="0" bIns="0" rtlCol="0" anchor="t"/>
          <a:lstStyle/>
          <a:p>
            <a:pPr indent="0" marL="0">
              <a:buNone/>
            </a:pPr>
            <a:r>
              <a:rPr lang="en-US" sz="1400" dirty="0">
                <a:solidFill>
                  <a:srgbClr val="5A6B73"/>
                </a:solidFill>
              </a:rPr>
              <a:t>Accepted lessons become cited evidence next time, and are ingested into Synapt.</a:t>
            </a:r>
            <a:endParaRPr lang="en-US" sz="1400" dirty="0"/>
          </a:p>
        </p:txBody>
      </p:sp>
      <p:pic>
        <p:nvPicPr>
          <p:cNvPr id="23" name="Live screenshot: priority and independent review" descr="Handling priority High 55 of 100 with five attributed factors, and an independent review reporting no concerns">    </p:cNvPr>
          <p:cNvPicPr>
            <a:picLocks noChangeAspect="1"/>
          </p:cNvPicPr>
          <p:nvPr/>
        </p:nvPicPr>
        <p:blipFill>
          <a:blip r:embed="rId1"/>
          <a:stretch>
            <a:fillRect/>
          </a:stretch>
        </p:blipFill>
        <p:spPr>
          <a:xfrm>
            <a:off x="6355080" y="1371600"/>
            <a:ext cx="5285232" cy="48006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Predictions a handler can interrogate</a:t>
            </a:r>
            <a:endParaRPr lang="en-US" sz="3200" dirty="0"/>
          </a:p>
        </p:txBody>
      </p:sp>
      <p:sp>
        <p:nvSpPr>
          <p:cNvPr id="3" name="Shape 1"/>
          <p:cNvSpPr/>
          <p:nvPr/>
        </p:nvSpPr>
        <p:spPr>
          <a:xfrm>
            <a:off x="548640" y="1371600"/>
            <a:ext cx="3483864" cy="2148840"/>
          </a:xfrm>
          <a:prstGeom prst="roundRect">
            <a:avLst>
              <a:gd name="adj" fmla="val 5106"/>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822960" y="1481328"/>
            <a:ext cx="2926080" cy="365760"/>
          </a:xfrm>
          <a:prstGeom prst="rect">
            <a:avLst/>
          </a:prstGeom>
          <a:noFill/>
          <a:ln/>
        </p:spPr>
        <p:txBody>
          <a:bodyPr wrap="square" lIns="0" tIns="0" rIns="0" bIns="0" rtlCol="0" anchor="ctr"/>
          <a:lstStyle/>
          <a:p>
            <a:pPr indent="0" marL="0">
              <a:buNone/>
            </a:pPr>
            <a:r>
              <a:rPr lang="en-US" sz="1600" b="1" dirty="0">
                <a:solidFill>
                  <a:srgbClr val="0E7C86"/>
                </a:solidFill>
              </a:rPr>
              <a:t>Amount</a:t>
            </a:r>
            <a:endParaRPr lang="en-US" sz="1600" dirty="0"/>
          </a:p>
        </p:txBody>
      </p:sp>
      <p:sp>
        <p:nvSpPr>
          <p:cNvPr id="5" name="Text 3"/>
          <p:cNvSpPr txBox="1"/>
          <p:nvPr/>
        </p:nvSpPr>
        <p:spPr>
          <a:xfrm>
            <a:off x="822960" y="1874520"/>
            <a:ext cx="3017520" cy="640080"/>
          </a:xfrm>
          <a:prstGeom prst="rect">
            <a:avLst/>
          </a:prstGeom>
          <a:noFill/>
          <a:ln/>
        </p:spPr>
        <p:txBody>
          <a:bodyPr wrap="square" lIns="0" tIns="0" rIns="0" bIns="0" rtlCol="0" anchor="ctr"/>
          <a:lstStyle/>
          <a:p>
            <a:pPr indent="0" marL="0">
              <a:buNone/>
            </a:pPr>
            <a:r>
              <a:rPr lang="en-US" sz="2800" b="1" dirty="0">
                <a:solidFill>
                  <a:srgbClr val="0B2530"/>
                </a:solidFill>
                <a:latin typeface="Cambria" pitchFamily="34" charset="0"/>
                <a:ea typeface="Cambria" pitchFamily="34" charset="-122"/>
                <a:cs typeface="Cambria" pitchFamily="34" charset="-120"/>
              </a:rPr>
              <a:t>28% lower error</a:t>
            </a:r>
            <a:endParaRPr lang="en-US" sz="2800" dirty="0"/>
          </a:p>
        </p:txBody>
      </p:sp>
      <p:sp>
        <p:nvSpPr>
          <p:cNvPr id="6" name="Text 4"/>
          <p:cNvSpPr txBox="1"/>
          <p:nvPr/>
        </p:nvSpPr>
        <p:spPr>
          <a:xfrm>
            <a:off x="822960" y="2560320"/>
            <a:ext cx="2971800" cy="868680"/>
          </a:xfrm>
          <a:prstGeom prst="rect">
            <a:avLst/>
          </a:prstGeom>
          <a:noFill/>
          <a:ln/>
        </p:spPr>
        <p:txBody>
          <a:bodyPr wrap="square" lIns="0" tIns="0" rIns="0" bIns="0" rtlCol="0" anchor="t"/>
          <a:lstStyle/>
          <a:p>
            <a:pPr indent="0" marL="0">
              <a:buNone/>
            </a:pPr>
            <a:r>
              <a:rPr lang="en-US" sz="1400" dirty="0">
                <a:solidFill>
                  <a:srgbClr val="5A6B73"/>
                </a:solidFill>
              </a:rPr>
              <a:t>MAE $16,072 vs $22,364 baseline. The 90% interval covers 90.1%.</a:t>
            </a:r>
            <a:endParaRPr lang="en-US" sz="1400" dirty="0"/>
          </a:p>
        </p:txBody>
      </p:sp>
      <p:sp>
        <p:nvSpPr>
          <p:cNvPr id="7" name="Shape 5"/>
          <p:cNvSpPr/>
          <p:nvPr/>
        </p:nvSpPr>
        <p:spPr>
          <a:xfrm>
            <a:off x="4352544" y="1371600"/>
            <a:ext cx="3483864" cy="2148840"/>
          </a:xfrm>
          <a:prstGeom prst="roundRect">
            <a:avLst>
              <a:gd name="adj" fmla="val 5106"/>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626864" y="1481328"/>
            <a:ext cx="2926080" cy="365760"/>
          </a:xfrm>
          <a:prstGeom prst="rect">
            <a:avLst/>
          </a:prstGeom>
          <a:noFill/>
          <a:ln/>
        </p:spPr>
        <p:txBody>
          <a:bodyPr wrap="square" lIns="0" tIns="0" rIns="0" bIns="0" rtlCol="0" anchor="ctr"/>
          <a:lstStyle/>
          <a:p>
            <a:pPr indent="0" marL="0">
              <a:buNone/>
            </a:pPr>
            <a:r>
              <a:rPr lang="en-US" sz="1600" b="1" dirty="0">
                <a:solidFill>
                  <a:srgbClr val="0E7C86"/>
                </a:solidFill>
              </a:rPr>
              <a:t>Resolution time</a:t>
            </a:r>
            <a:endParaRPr lang="en-US" sz="1600" dirty="0"/>
          </a:p>
        </p:txBody>
      </p:sp>
      <p:sp>
        <p:nvSpPr>
          <p:cNvPr id="9" name="Text 7"/>
          <p:cNvSpPr txBox="1"/>
          <p:nvPr/>
        </p:nvSpPr>
        <p:spPr>
          <a:xfrm>
            <a:off x="4626864" y="1874520"/>
            <a:ext cx="3017520" cy="640080"/>
          </a:xfrm>
          <a:prstGeom prst="rect">
            <a:avLst/>
          </a:prstGeom>
          <a:noFill/>
          <a:ln/>
        </p:spPr>
        <p:txBody>
          <a:bodyPr wrap="square" lIns="0" tIns="0" rIns="0" bIns="0" rtlCol="0" anchor="ctr"/>
          <a:lstStyle/>
          <a:p>
            <a:pPr indent="0" marL="0">
              <a:buNone/>
            </a:pPr>
            <a:r>
              <a:rPr lang="en-US" sz="2800" b="1" dirty="0">
                <a:solidFill>
                  <a:srgbClr val="0B2530"/>
                </a:solidFill>
                <a:latin typeface="Cambria" pitchFamily="34" charset="0"/>
                <a:ea typeface="Cambria" pitchFamily="34" charset="-122"/>
                <a:cs typeface="Cambria" pitchFamily="34" charset="-120"/>
              </a:rPr>
              <a:t>9% lower error</a:t>
            </a:r>
            <a:endParaRPr lang="en-US" sz="2800" dirty="0"/>
          </a:p>
        </p:txBody>
      </p:sp>
      <p:sp>
        <p:nvSpPr>
          <p:cNvPr id="10" name="Text 8"/>
          <p:cNvSpPr txBox="1"/>
          <p:nvPr/>
        </p:nvSpPr>
        <p:spPr>
          <a:xfrm>
            <a:off x="4626864" y="2560320"/>
            <a:ext cx="2971800" cy="868680"/>
          </a:xfrm>
          <a:prstGeom prst="rect">
            <a:avLst/>
          </a:prstGeom>
          <a:noFill/>
          <a:ln/>
        </p:spPr>
        <p:txBody>
          <a:bodyPr wrap="square" lIns="0" tIns="0" rIns="0" bIns="0" rtlCol="0" anchor="t"/>
          <a:lstStyle/>
          <a:p>
            <a:pPr indent="0" marL="0">
              <a:buNone/>
            </a:pPr>
            <a:r>
              <a:rPr lang="en-US" sz="1400" dirty="0">
                <a:solidFill>
                  <a:srgbClr val="5A6B73"/>
                </a:solidFill>
              </a:rPr>
              <a:t>MAE 6.58 vs 7.22 days. Interval covers 89.8%.</a:t>
            </a:r>
            <a:endParaRPr lang="en-US" sz="1400" dirty="0"/>
          </a:p>
        </p:txBody>
      </p:sp>
      <p:sp>
        <p:nvSpPr>
          <p:cNvPr id="11" name="Shape 9"/>
          <p:cNvSpPr/>
          <p:nvPr/>
        </p:nvSpPr>
        <p:spPr>
          <a:xfrm>
            <a:off x="8156448" y="1371600"/>
            <a:ext cx="3483864" cy="2148840"/>
          </a:xfrm>
          <a:prstGeom prst="roundRect">
            <a:avLst>
              <a:gd name="adj" fmla="val 5106"/>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8430768" y="1481328"/>
            <a:ext cx="2926080" cy="365760"/>
          </a:xfrm>
          <a:prstGeom prst="rect">
            <a:avLst/>
          </a:prstGeom>
          <a:noFill/>
          <a:ln/>
        </p:spPr>
        <p:txBody>
          <a:bodyPr wrap="square" lIns="0" tIns="0" rIns="0" bIns="0" rtlCol="0" anchor="ctr"/>
          <a:lstStyle/>
          <a:p>
            <a:pPr indent="0" marL="0">
              <a:buNone/>
            </a:pPr>
            <a:r>
              <a:rPr lang="en-US" sz="1600" b="1" dirty="0">
                <a:solidFill>
                  <a:srgbClr val="0E7C86"/>
                </a:solidFill>
              </a:rPr>
              <a:t>Fraud flag</a:t>
            </a:r>
            <a:endParaRPr lang="en-US" sz="1600" dirty="0"/>
          </a:p>
        </p:txBody>
      </p:sp>
      <p:sp>
        <p:nvSpPr>
          <p:cNvPr id="13" name="Text 11"/>
          <p:cNvSpPr txBox="1"/>
          <p:nvPr/>
        </p:nvSpPr>
        <p:spPr>
          <a:xfrm>
            <a:off x="8430768" y="1874520"/>
            <a:ext cx="3017520" cy="640080"/>
          </a:xfrm>
          <a:prstGeom prst="rect">
            <a:avLst/>
          </a:prstGeom>
          <a:noFill/>
          <a:ln/>
        </p:spPr>
        <p:txBody>
          <a:bodyPr wrap="square" lIns="0" tIns="0" rIns="0" bIns="0" rtlCol="0" anchor="ctr"/>
          <a:lstStyle/>
          <a:p>
            <a:pPr indent="0" marL="0">
              <a:buNone/>
            </a:pPr>
            <a:r>
              <a:rPr lang="en-US" sz="2800" b="1" dirty="0">
                <a:solidFill>
                  <a:srgbClr val="0B2530"/>
                </a:solidFill>
                <a:latin typeface="Cambria" pitchFamily="34" charset="0"/>
                <a:ea typeface="Cambria" pitchFamily="34" charset="-122"/>
                <a:cs typeface="Cambria" pitchFamily="34" charset="-120"/>
              </a:rPr>
              <a:t>4x the baseline</a:t>
            </a:r>
            <a:endParaRPr lang="en-US" sz="2800" dirty="0"/>
          </a:p>
        </p:txBody>
      </p:sp>
      <p:sp>
        <p:nvSpPr>
          <p:cNvPr id="14" name="Text 12"/>
          <p:cNvSpPr txBox="1"/>
          <p:nvPr/>
        </p:nvSpPr>
        <p:spPr>
          <a:xfrm>
            <a:off x="8430768" y="2560320"/>
            <a:ext cx="2971800" cy="868680"/>
          </a:xfrm>
          <a:prstGeom prst="rect">
            <a:avLst/>
          </a:prstGeom>
          <a:noFill/>
          <a:ln/>
        </p:spPr>
        <p:txBody>
          <a:bodyPr wrap="square" lIns="0" tIns="0" rIns="0" bIns="0" rtlCol="0" anchor="t"/>
          <a:lstStyle/>
          <a:p>
            <a:pPr indent="0" marL="0">
              <a:buNone/>
            </a:pPr>
            <a:r>
              <a:rPr lang="en-US" sz="1400" dirty="0">
                <a:solidFill>
                  <a:srgbClr val="5A6B73"/>
                </a:solidFill>
              </a:rPr>
              <a:t>PR-AUC 0.32 vs 0.08; precision 56%, recall 31%.</a:t>
            </a:r>
            <a:endParaRPr lang="en-US" sz="1400" dirty="0"/>
          </a:p>
        </p:txBody>
      </p:sp>
      <p:sp>
        <p:nvSpPr>
          <p:cNvPr id="15" name="Text 13"/>
          <p:cNvSpPr txBox="1"/>
          <p:nvPr/>
        </p:nvSpPr>
        <p:spPr>
          <a:xfrm>
            <a:off x="548640" y="3749040"/>
            <a:ext cx="11064240" cy="411480"/>
          </a:xfrm>
          <a:prstGeom prst="rect">
            <a:avLst/>
          </a:prstGeom>
          <a:noFill/>
          <a:ln/>
        </p:spPr>
        <p:txBody>
          <a:bodyPr wrap="square" lIns="0" tIns="0" rIns="0" bIns="0" rtlCol="0" anchor="ctr"/>
          <a:lstStyle/>
          <a:p>
            <a:pPr indent="0" marL="0">
              <a:buNone/>
            </a:pPr>
            <a:r>
              <a:rPr lang="en-US" sz="2000" b="1" dirty="0">
                <a:solidFill>
                  <a:srgbClr val="0B2530"/>
                </a:solidFill>
              </a:rPr>
              <a:t>Why this estimate: what the models learned, and what moved this claim</a:t>
            </a:r>
            <a:endParaRPr lang="en-US" sz="2000" dirty="0"/>
          </a:p>
        </p:txBody>
      </p:sp>
      <p:sp>
        <p:nvSpPr>
          <p:cNvPr id="16" name="Shape 14"/>
          <p:cNvSpPr/>
          <p:nvPr/>
        </p:nvSpPr>
        <p:spPr>
          <a:xfrm>
            <a:off x="594360" y="4370832"/>
            <a:ext cx="128016" cy="128016"/>
          </a:xfrm>
          <a:prstGeom prst="ellipse">
            <a:avLst/>
          </a:prstGeom>
          <a:solidFill>
            <a:srgbClr val="0E7C86"/>
          </a:solidFill>
          <a:ln w="12700">
            <a:solidFill>
              <a:srgbClr val="0E7C86"/>
            </a:solidFill>
            <a:prstDash val="solid"/>
          </a:ln>
        </p:spPr>
      </p:sp>
      <p:sp>
        <p:nvSpPr>
          <p:cNvPr id="17" name="Text 15"/>
          <p:cNvSpPr txBox="1"/>
          <p:nvPr/>
        </p:nvSpPr>
        <p:spPr>
          <a:xfrm>
            <a:off x="868680" y="4251960"/>
            <a:ext cx="10698480" cy="411480"/>
          </a:xfrm>
          <a:prstGeom prst="rect">
            <a:avLst/>
          </a:prstGeom>
          <a:noFill/>
          <a:ln/>
        </p:spPr>
        <p:txBody>
          <a:bodyPr wrap="square" lIns="0" tIns="0" rIns="0" bIns="0" rtlCol="0" anchor="ctr"/>
          <a:lstStyle/>
          <a:p>
            <a:pPr indent="0" marL="0">
              <a:buNone/>
            </a:pPr>
            <a:r>
              <a:rPr lang="en-US" sz="1400" dirty="0">
                <a:solidFill>
                  <a:srgbClr val="0B2530"/>
                </a:solidFill>
              </a:rPr>
              <a:t>Fraud score falls with tenure (0.23 at six months to 0.05 at eleven years) and rises with claim size, the pattern the dataset describes.</a:t>
            </a:r>
            <a:endParaRPr lang="en-US" sz="1400" dirty="0"/>
          </a:p>
        </p:txBody>
      </p:sp>
      <p:sp>
        <p:nvSpPr>
          <p:cNvPr id="18" name="Shape 16"/>
          <p:cNvSpPr/>
          <p:nvPr/>
        </p:nvSpPr>
        <p:spPr>
          <a:xfrm>
            <a:off x="594360" y="4828032"/>
            <a:ext cx="128016" cy="128016"/>
          </a:xfrm>
          <a:prstGeom prst="ellipse">
            <a:avLst/>
          </a:prstGeom>
          <a:solidFill>
            <a:srgbClr val="0E7C86"/>
          </a:solidFill>
          <a:ln w="12700">
            <a:solidFill>
              <a:srgbClr val="0E7C86"/>
            </a:solidFill>
            <a:prstDash val="solid"/>
          </a:ln>
        </p:spPr>
      </p:sp>
      <p:sp>
        <p:nvSpPr>
          <p:cNvPr id="19" name="Text 17"/>
          <p:cNvSpPr txBox="1"/>
          <p:nvPr/>
        </p:nvSpPr>
        <p:spPr>
          <a:xfrm>
            <a:off x="868680" y="4709160"/>
            <a:ext cx="10698480" cy="411480"/>
          </a:xfrm>
          <a:prstGeom prst="rect">
            <a:avLst/>
          </a:prstGeom>
          <a:noFill/>
          <a:ln/>
        </p:spPr>
        <p:txBody>
          <a:bodyPr wrap="square" lIns="0" tIns="0" rIns="0" bIns="0" rtlCol="0" anchor="ctr"/>
          <a:lstStyle/>
          <a:p>
            <a:pPr indent="0" marL="0">
              <a:buNone/>
            </a:pPr>
            <a:r>
              <a:rPr lang="en-US" sz="1400" dirty="0">
                <a:solidFill>
                  <a:srgbClr val="0B2530"/>
                </a:solidFill>
              </a:rPr>
              <a:t>Resolution time tracks filing delay: about 13 days after a one-day delay, about 25 after thirteen.</a:t>
            </a:r>
            <a:endParaRPr lang="en-US" sz="1400" dirty="0"/>
          </a:p>
        </p:txBody>
      </p:sp>
      <p:sp>
        <p:nvSpPr>
          <p:cNvPr id="20" name="Shape 18"/>
          <p:cNvSpPr/>
          <p:nvPr/>
        </p:nvSpPr>
        <p:spPr>
          <a:xfrm>
            <a:off x="594360" y="5285232"/>
            <a:ext cx="128016" cy="128016"/>
          </a:xfrm>
          <a:prstGeom prst="ellipse">
            <a:avLst/>
          </a:prstGeom>
          <a:solidFill>
            <a:srgbClr val="0E7C86"/>
          </a:solidFill>
          <a:ln w="12700">
            <a:solidFill>
              <a:srgbClr val="0E7C86"/>
            </a:solidFill>
            <a:prstDash val="solid"/>
          </a:ln>
        </p:spPr>
      </p:sp>
      <p:sp>
        <p:nvSpPr>
          <p:cNvPr id="21" name="Text 19"/>
          <p:cNvSpPr txBox="1"/>
          <p:nvPr/>
        </p:nvSpPr>
        <p:spPr>
          <a:xfrm>
            <a:off x="868680" y="5166360"/>
            <a:ext cx="10698480" cy="411480"/>
          </a:xfrm>
          <a:prstGeom prst="rect">
            <a:avLst/>
          </a:prstGeom>
          <a:noFill/>
          <a:ln/>
        </p:spPr>
        <p:txBody>
          <a:bodyPr wrap="square" lIns="0" tIns="0" rIns="0" bIns="0" rtlCol="0" anchor="ctr"/>
          <a:lstStyle/>
          <a:p>
            <a:pPr indent="0" marL="0">
              <a:buNone/>
            </a:pPr>
            <a:r>
              <a:rPr lang="en-US" sz="1400" dirty="0">
                <a:solidFill>
                  <a:srgbClr val="0B2530"/>
                </a:solidFill>
              </a:rPr>
              <a:t>Amount: business claims average about $107,000 against $17,000 for renters.</a:t>
            </a:r>
            <a:endParaRPr lang="en-US" sz="1400" dirty="0"/>
          </a:p>
        </p:txBody>
      </p:sp>
      <p:sp>
        <p:nvSpPr>
          <p:cNvPr id="22" name="Shape 20"/>
          <p:cNvSpPr/>
          <p:nvPr/>
        </p:nvSpPr>
        <p:spPr>
          <a:xfrm>
            <a:off x="594360" y="5742432"/>
            <a:ext cx="128016" cy="128016"/>
          </a:xfrm>
          <a:prstGeom prst="ellipse">
            <a:avLst/>
          </a:prstGeom>
          <a:solidFill>
            <a:srgbClr val="0E7C86"/>
          </a:solidFill>
          <a:ln w="12700">
            <a:solidFill>
              <a:srgbClr val="0E7C86"/>
            </a:solidFill>
            <a:prstDash val="solid"/>
          </a:ln>
        </p:spPr>
      </p:sp>
      <p:sp>
        <p:nvSpPr>
          <p:cNvPr id="23" name="Text 21"/>
          <p:cNvSpPr txBox="1"/>
          <p:nvPr/>
        </p:nvSpPr>
        <p:spPr>
          <a:xfrm>
            <a:off x="868680" y="5623560"/>
            <a:ext cx="10698480" cy="411480"/>
          </a:xfrm>
          <a:prstGeom prst="rect">
            <a:avLst/>
          </a:prstGeom>
          <a:noFill/>
          <a:ln/>
        </p:spPr>
        <p:txBody>
          <a:bodyPr wrap="square" lIns="0" tIns="0" rIns="0" bIns="0" rtlCol="0" anchor="ctr"/>
          <a:lstStyle/>
          <a:p>
            <a:pPr indent="0" marL="0">
              <a:buNone/>
            </a:pPr>
            <a:r>
              <a:rPr lang="en-US" sz="1400" dirty="0">
                <a:solidFill>
                  <a:srgbClr val="0B2530"/>
                </a:solidFill>
              </a:rPr>
              <a:t>Per claim: each feature is swapped for a typical value to show how far it moved this estimate. Associations, not causes.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rPr>
              <a:t>Evaluated, guarded and learning</a:t>
            </a:r>
            <a:endParaRPr lang="en-US" sz="3200" dirty="0"/>
          </a:p>
        </p:txBody>
      </p:sp>
      <p:sp>
        <p:nvSpPr>
          <p:cNvPr id="3" name="Shape 1"/>
          <p:cNvSpPr/>
          <p:nvPr/>
        </p:nvSpPr>
        <p:spPr>
          <a:xfrm>
            <a:off x="548640" y="1371600"/>
            <a:ext cx="3483864" cy="3977640"/>
          </a:xfrm>
          <a:prstGeom prst="roundRect">
            <a:avLst>
              <a:gd name="adj" fmla="val 315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4" name="badge 1"/>
          <p:cNvSpPr/>
          <p:nvPr/>
        </p:nvSpPr>
        <p:spPr>
          <a:xfrm>
            <a:off x="822960" y="1645920"/>
            <a:ext cx="457200" cy="457200"/>
          </a:xfrm>
          <a:prstGeom prst="ellipse">
            <a:avLst/>
          </a:prstGeom>
          <a:solidFill>
            <a:srgbClr val="0E7C86"/>
          </a:solidFill>
          <a:ln w="12700">
            <a:solidFill>
              <a:srgbClr val="0E7C86"/>
            </a:solidFill>
            <a:prstDash val="solid"/>
          </a:ln>
        </p:spPr>
      </p:sp>
      <p:sp>
        <p:nvSpPr>
          <p:cNvPr id="5" name="Text 3"/>
          <p:cNvSpPr txBox="1"/>
          <p:nvPr/>
        </p:nvSpPr>
        <p:spPr>
          <a:xfrm>
            <a:off x="822960" y="1645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417320" y="1645920"/>
            <a:ext cx="2377440" cy="457200"/>
          </a:xfrm>
          <a:prstGeom prst="rect">
            <a:avLst/>
          </a:prstGeom>
          <a:noFill/>
          <a:ln/>
        </p:spPr>
        <p:txBody>
          <a:bodyPr wrap="square" lIns="0" tIns="0" rIns="0" bIns="0" rtlCol="0" anchor="ctr"/>
          <a:lstStyle/>
          <a:p>
            <a:pPr indent="0" marL="0">
              <a:buNone/>
            </a:pPr>
            <a:r>
              <a:rPr lang="en-US" sz="2200" b="1" dirty="0">
                <a:solidFill>
                  <a:srgbClr val="0B2530"/>
                </a:solidFill>
              </a:rPr>
              <a:t>Evaluated</a:t>
            </a:r>
            <a:endParaRPr lang="en-US" sz="2200" dirty="0"/>
          </a:p>
        </p:txBody>
      </p:sp>
      <p:sp>
        <p:nvSpPr>
          <p:cNvPr id="7" name="Text 5"/>
          <p:cNvSpPr txBox="1"/>
          <p:nvPr/>
        </p:nvSpPr>
        <p:spPr>
          <a:xfrm>
            <a:off x="822960" y="2377440"/>
            <a:ext cx="3017520" cy="2834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B2530"/>
                </a:solidFill>
              </a:rPr>
              <a:t>Golden cases: 4 of 4 on the live system</a:t>
            </a:r>
            <a:endParaRPr lang="en-US" sz="1500" dirty="0"/>
          </a:p>
          <a:p>
            <a:pPr marL="342900" indent="-342900">
              <a:spcAft>
                <a:spcPts val="1000"/>
              </a:spcAft>
              <a:buSzPct val="100000"/>
              <a:buChar char="•"/>
            </a:pPr>
            <a:r>
              <a:rPr lang="en-US" sz="1500" dirty="0">
                <a:solidFill>
                  <a:srgbClr val="0B2530"/>
                </a:solidFill>
              </a:rPr>
              <a:t>DeepEval: 12 of 12 metrics ran, 8 pass</a:t>
            </a:r>
            <a:endParaRPr lang="en-US" sz="1500" dirty="0"/>
          </a:p>
          <a:p>
            <a:pPr marL="342900" indent="-342900">
              <a:spcAft>
                <a:spcPts val="1000"/>
              </a:spcAft>
              <a:buSzPct val="100000"/>
              <a:buChar char="•"/>
            </a:pPr>
            <a:r>
              <a:rPr lang="en-US" sz="1500" dirty="0">
                <a:solidFill>
                  <a:srgbClr val="0B2530"/>
                </a:solidFill>
              </a:rPr>
              <a:t>Independent LLM judge on every live brief</a:t>
            </a:r>
            <a:endParaRPr lang="en-US" sz="1500" dirty="0"/>
          </a:p>
          <a:p>
            <a:pPr marL="342900" indent="-342900">
              <a:spcAft>
                <a:spcPts val="1000"/>
              </a:spcAft>
              <a:buSzPct val="100000"/>
              <a:buChar char="•"/>
            </a:pPr>
            <a:r>
              <a:rPr lang="en-US" sz="1500" dirty="0">
                <a:solidFill>
                  <a:srgbClr val="0B2530"/>
                </a:solidFill>
              </a:rPr>
              <a:t>169 backend and 16 UI tests</a:t>
            </a:r>
            <a:endParaRPr lang="en-US" sz="1500" dirty="0"/>
          </a:p>
        </p:txBody>
      </p:sp>
      <p:sp>
        <p:nvSpPr>
          <p:cNvPr id="8" name="Shape 6"/>
          <p:cNvSpPr/>
          <p:nvPr/>
        </p:nvSpPr>
        <p:spPr>
          <a:xfrm>
            <a:off x="4352544" y="1371600"/>
            <a:ext cx="3483864" cy="3977640"/>
          </a:xfrm>
          <a:prstGeom prst="roundRect">
            <a:avLst>
              <a:gd name="adj" fmla="val 315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9" name="badge 2"/>
          <p:cNvSpPr/>
          <p:nvPr/>
        </p:nvSpPr>
        <p:spPr>
          <a:xfrm>
            <a:off x="4626864" y="1645920"/>
            <a:ext cx="457200" cy="457200"/>
          </a:xfrm>
          <a:prstGeom prst="ellipse">
            <a:avLst/>
          </a:prstGeom>
          <a:solidFill>
            <a:srgbClr val="D9534F"/>
          </a:solidFill>
          <a:ln w="12700">
            <a:solidFill>
              <a:srgbClr val="D9534F"/>
            </a:solidFill>
            <a:prstDash val="solid"/>
          </a:ln>
        </p:spPr>
      </p:sp>
      <p:sp>
        <p:nvSpPr>
          <p:cNvPr id="10" name="Text 8"/>
          <p:cNvSpPr txBox="1"/>
          <p:nvPr/>
        </p:nvSpPr>
        <p:spPr>
          <a:xfrm>
            <a:off x="4626864" y="1645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5221224" y="1645920"/>
            <a:ext cx="2377440" cy="457200"/>
          </a:xfrm>
          <a:prstGeom prst="rect">
            <a:avLst/>
          </a:prstGeom>
          <a:noFill/>
          <a:ln/>
        </p:spPr>
        <p:txBody>
          <a:bodyPr wrap="square" lIns="0" tIns="0" rIns="0" bIns="0" rtlCol="0" anchor="ctr"/>
          <a:lstStyle/>
          <a:p>
            <a:pPr indent="0" marL="0">
              <a:buNone/>
            </a:pPr>
            <a:r>
              <a:rPr lang="en-US" sz="2200" b="1" dirty="0">
                <a:solidFill>
                  <a:srgbClr val="0B2530"/>
                </a:solidFill>
              </a:rPr>
              <a:t>Guarded</a:t>
            </a:r>
            <a:endParaRPr lang="en-US" sz="2200" dirty="0"/>
          </a:p>
        </p:txBody>
      </p:sp>
      <p:sp>
        <p:nvSpPr>
          <p:cNvPr id="12" name="Text 10"/>
          <p:cNvSpPr txBox="1"/>
          <p:nvPr/>
        </p:nvSpPr>
        <p:spPr>
          <a:xfrm>
            <a:off x="4626864" y="2377440"/>
            <a:ext cx="3017520" cy="2834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B2530"/>
                </a:solidFill>
              </a:rPr>
              <a:t>7 of 7 invalid inputs refused</a:t>
            </a:r>
            <a:endParaRPr lang="en-US" sz="1500" dirty="0"/>
          </a:p>
          <a:p>
            <a:pPr marL="342900" indent="-342900">
              <a:spcAft>
                <a:spcPts val="1000"/>
              </a:spcAft>
              <a:buSzPct val="100000"/>
              <a:buChar char="•"/>
            </a:pPr>
            <a:r>
              <a:rPr lang="en-US" sz="1500" dirty="0">
                <a:solidFill>
                  <a:srgbClr val="0B2530"/>
                </a:solidFill>
              </a:rPr>
              <a:t>Every finding must cite a supplied source</a:t>
            </a:r>
            <a:endParaRPr lang="en-US" sz="1500" dirty="0"/>
          </a:p>
          <a:p>
            <a:pPr marL="342900" indent="-342900">
              <a:spcAft>
                <a:spcPts val="1000"/>
              </a:spcAft>
              <a:buSzPct val="100000"/>
              <a:buChar char="•"/>
            </a:pPr>
            <a:r>
              <a:rPr lang="en-US" sz="1500" dirty="0">
                <a:solidFill>
                  <a:srgbClr val="0B2530"/>
                </a:solidFill>
              </a:rPr>
              <a:t>A brief claiming a document was 'provided' is held for review</a:t>
            </a:r>
            <a:endParaRPr lang="en-US" sz="1500" dirty="0"/>
          </a:p>
          <a:p>
            <a:pPr marL="342900" indent="-342900">
              <a:spcAft>
                <a:spcPts val="1000"/>
              </a:spcAft>
              <a:buSzPct val="100000"/>
              <a:buChar char="•"/>
            </a:pPr>
            <a:r>
              <a:rPr lang="en-US" sz="1500" dirty="0">
                <a:solidFill>
                  <a:srgbClr val="0B2530"/>
                </a:solidFill>
              </a:rPr>
              <a:t>Decision language is blocked</a:t>
            </a:r>
            <a:endParaRPr lang="en-US" sz="1500" dirty="0"/>
          </a:p>
        </p:txBody>
      </p:sp>
      <p:sp>
        <p:nvSpPr>
          <p:cNvPr id="13" name="Shape 11"/>
          <p:cNvSpPr/>
          <p:nvPr/>
        </p:nvSpPr>
        <p:spPr>
          <a:xfrm>
            <a:off x="8156448" y="1371600"/>
            <a:ext cx="3483864" cy="3977640"/>
          </a:xfrm>
          <a:prstGeom prst="roundRect">
            <a:avLst>
              <a:gd name="adj" fmla="val 3150"/>
            </a:avLst>
          </a:prstGeom>
          <a:solidFill>
            <a:srgbClr val="E6F4F1"/>
          </a:solidFill>
          <a:ln w="12700">
            <a:solidFill>
              <a:srgbClr val="E6F4F1"/>
            </a:solidFill>
            <a:prstDash val="solid"/>
          </a:ln>
          <a:effectLst>
            <a:outerShdw sx="100000" sy="100000" kx="0" ky="0" algn="bl" rotWithShape="0" blurRad="101600" dist="25400" dir="5400000">
              <a:srgbClr val="000000">
                <a:alpha val="12000"/>
              </a:srgbClr>
            </a:outerShdw>
          </a:effectLst>
        </p:spPr>
      </p:sp>
      <p:sp>
        <p:nvSpPr>
          <p:cNvPr id="14" name="badge 3"/>
          <p:cNvSpPr/>
          <p:nvPr/>
        </p:nvSpPr>
        <p:spPr>
          <a:xfrm>
            <a:off x="8430768" y="1645920"/>
            <a:ext cx="457200" cy="457200"/>
          </a:xfrm>
          <a:prstGeom prst="ellipse">
            <a:avLst/>
          </a:prstGeom>
          <a:solidFill>
            <a:srgbClr val="F2A93B"/>
          </a:solidFill>
          <a:ln w="12700">
            <a:solidFill>
              <a:srgbClr val="F2A93B"/>
            </a:solidFill>
            <a:prstDash val="solid"/>
          </a:ln>
        </p:spPr>
      </p:sp>
      <p:sp>
        <p:nvSpPr>
          <p:cNvPr id="15" name="Text 13"/>
          <p:cNvSpPr txBox="1"/>
          <p:nvPr/>
        </p:nvSpPr>
        <p:spPr>
          <a:xfrm>
            <a:off x="8430768" y="1645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9025128" y="1645920"/>
            <a:ext cx="2377440" cy="457200"/>
          </a:xfrm>
          <a:prstGeom prst="rect">
            <a:avLst/>
          </a:prstGeom>
          <a:noFill/>
          <a:ln/>
        </p:spPr>
        <p:txBody>
          <a:bodyPr wrap="square" lIns="0" tIns="0" rIns="0" bIns="0" rtlCol="0" anchor="ctr"/>
          <a:lstStyle/>
          <a:p>
            <a:pPr indent="0" marL="0">
              <a:buNone/>
            </a:pPr>
            <a:r>
              <a:rPr lang="en-US" sz="2200" b="1" dirty="0">
                <a:solidFill>
                  <a:srgbClr val="0B2530"/>
                </a:solidFill>
              </a:rPr>
              <a:t>Learning</a:t>
            </a:r>
            <a:endParaRPr lang="en-US" sz="2200" dirty="0"/>
          </a:p>
        </p:txBody>
      </p:sp>
      <p:sp>
        <p:nvSpPr>
          <p:cNvPr id="17" name="Text 15"/>
          <p:cNvSpPr txBox="1"/>
          <p:nvPr/>
        </p:nvSpPr>
        <p:spPr>
          <a:xfrm>
            <a:off x="8430768" y="2377440"/>
            <a:ext cx="3017520" cy="2834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B2530"/>
                </a:solidFill>
              </a:rPr>
              <a:t>Rate an accepted brief</a:t>
            </a:r>
            <a:endParaRPr lang="en-US" sz="1500" dirty="0"/>
          </a:p>
          <a:p>
            <a:pPr marL="342900" indent="-342900">
              <a:spcAft>
                <a:spcPts val="1000"/>
              </a:spcAft>
              <a:buSzPct val="100000"/>
              <a:buChar char="•"/>
            </a:pPr>
            <a:r>
              <a:rPr lang="en-US" sz="1500" dirty="0">
                <a:solidFill>
                  <a:srgbClr val="0B2530"/>
                </a:solidFill>
              </a:rPr>
              <a:t>Administrator promotes the lesson</a:t>
            </a:r>
            <a:endParaRPr lang="en-US" sz="1500" dirty="0"/>
          </a:p>
          <a:p>
            <a:pPr marL="342900" indent="-342900">
              <a:spcAft>
                <a:spcPts val="1000"/>
              </a:spcAft>
              <a:buSzPct val="100000"/>
              <a:buChar char="•"/>
            </a:pPr>
            <a:r>
              <a:rPr lang="en-US" sz="1500" dirty="0">
                <a:solidFill>
                  <a:srgbClr val="0B2530"/>
                </a:solidFill>
              </a:rPr>
              <a:t>Cited as evidence next time, and ingested into Synapt</a:t>
            </a:r>
            <a:endParaRPr lang="en-US" sz="1500" dirty="0"/>
          </a:p>
          <a:p>
            <a:pPr marL="342900" indent="-342900">
              <a:spcAft>
                <a:spcPts val="1000"/>
              </a:spcAft>
              <a:buSzPct val="100000"/>
              <a:buChar char="•"/>
            </a:pPr>
            <a:r>
              <a:rPr lang="en-US" sz="1500" dirty="0">
                <a:solidFill>
                  <a:srgbClr val="0B2530"/>
                </a:solidFill>
              </a:rPr>
              <a:t>Verified live: Synapt 21 to 22 documents</a:t>
            </a:r>
            <a:endParaRPr lang="en-US" sz="1500" dirty="0"/>
          </a:p>
        </p:txBody>
      </p:sp>
      <p:sp>
        <p:nvSpPr>
          <p:cNvPr id="18" name="Text 16"/>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600" i="1" dirty="0">
                <a:solidFill>
                  <a:srgbClr val="0E4A57"/>
                </a:solidFill>
              </a:rPr>
              <a:t>Evaluation, the guardrail catch and the feedback loop were exercised on the live system, not only in unit tests.</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A6B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Honest limits, and what comes next</a:t>
            </a:r>
            <a:endParaRPr lang="en-US" sz="3800" dirty="0"/>
          </a:p>
        </p:txBody>
      </p:sp>
      <p:sp>
        <p:nvSpPr>
          <p:cNvPr id="3" name="Shape 1"/>
          <p:cNvSpPr/>
          <p:nvPr/>
        </p:nvSpPr>
        <p:spPr>
          <a:xfrm>
            <a:off x="731520" y="1691640"/>
            <a:ext cx="5120640" cy="3429000"/>
          </a:xfrm>
          <a:prstGeom prst="roundRect">
            <a:avLst>
              <a:gd name="adj" fmla="val 3200"/>
            </a:avLst>
          </a:prstGeom>
          <a:solidFill>
            <a:srgbClr val="0E4A57"/>
          </a:solidFill>
          <a:ln w="12700">
            <a:solidFill>
              <a:srgbClr val="0E4A57"/>
            </a:solidFill>
            <a:prstDash val="solid"/>
          </a:ln>
        </p:spPr>
      </p:sp>
      <p:sp>
        <p:nvSpPr>
          <p:cNvPr id="4" name="Text 2"/>
          <p:cNvSpPr txBox="1"/>
          <p:nvPr/>
        </p:nvSpPr>
        <p:spPr>
          <a:xfrm>
            <a:off x="1051560" y="1874520"/>
            <a:ext cx="4480560" cy="457200"/>
          </a:xfrm>
          <a:prstGeom prst="rect">
            <a:avLst/>
          </a:prstGeom>
          <a:noFill/>
          <a:ln/>
        </p:spPr>
        <p:txBody>
          <a:bodyPr wrap="square" lIns="0" tIns="0" rIns="0" bIns="0" rtlCol="0" anchor="ctr"/>
          <a:lstStyle/>
          <a:p>
            <a:pPr indent="0" marL="0">
              <a:buNone/>
            </a:pPr>
            <a:r>
              <a:rPr lang="en-US" sz="2400" b="1" dirty="0">
                <a:solidFill>
                  <a:srgbClr val="F2A93B"/>
                </a:solidFill>
              </a:rPr>
              <a:t>Limits</a:t>
            </a:r>
            <a:endParaRPr lang="en-US" sz="2400" dirty="0"/>
          </a:p>
        </p:txBody>
      </p:sp>
      <p:sp>
        <p:nvSpPr>
          <p:cNvPr id="5" name="Text 3"/>
          <p:cNvSpPr txBox="1"/>
          <p:nvPr/>
        </p:nvSpPr>
        <p:spPr>
          <a:xfrm>
            <a:off x="1051560" y="2514600"/>
            <a:ext cx="4526280" cy="26517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FFFFFF"/>
                </a:solidFill>
              </a:rPr>
              <a:t>Synthetic data: no claim of real-world accuracy</a:t>
            </a:r>
            <a:endParaRPr lang="en-US" sz="1600" dirty="0"/>
          </a:p>
          <a:p>
            <a:pPr marL="342900" indent="-342900">
              <a:spcAft>
                <a:spcPts val="1000"/>
              </a:spcAft>
              <a:buSzPct val="100000"/>
              <a:buChar char="•"/>
            </a:pPr>
            <a:r>
              <a:rPr lang="en-US" sz="1600" dirty="0">
                <a:solidFill>
                  <a:srgbClr val="FFFFFF"/>
                </a:solidFill>
              </a:rPr>
              <a:t>Synapt holds 1,000 of 100 million claims, so its semantic signal is mild</a:t>
            </a:r>
            <a:endParaRPr lang="en-US" sz="1600" dirty="0"/>
          </a:p>
          <a:p>
            <a:pPr marL="342900" indent="-342900">
              <a:spcAft>
                <a:spcPts val="1000"/>
              </a:spcAft>
              <a:buSzPct val="100000"/>
              <a:buChar char="•"/>
            </a:pPr>
            <a:r>
              <a:rPr lang="en-US" sz="1600" dirty="0">
                <a:solidFill>
                  <a:srgbClr val="FFFFFF"/>
                </a:solidFill>
              </a:rPr>
              <a:t>Fraud recall is 31%: a screening aid, not a detector</a:t>
            </a:r>
            <a:endParaRPr lang="en-US" sz="1600" dirty="0"/>
          </a:p>
          <a:p>
            <a:pPr marL="342900" indent="-342900">
              <a:spcAft>
                <a:spcPts val="1000"/>
              </a:spcAft>
              <a:buSzPct val="100000"/>
              <a:buChar char="•"/>
            </a:pPr>
            <a:r>
              <a:rPr lang="en-US" sz="1600" dirty="0">
                <a:solidFill>
                  <a:srgbClr val="FFFFFF"/>
                </a:solidFill>
              </a:rPr>
              <a:t>The judge is advisory and probabilistic</a:t>
            </a:r>
            <a:endParaRPr lang="en-US" sz="1600" dirty="0"/>
          </a:p>
        </p:txBody>
      </p:sp>
      <p:sp>
        <p:nvSpPr>
          <p:cNvPr id="6" name="Shape 4"/>
          <p:cNvSpPr/>
          <p:nvPr/>
        </p:nvSpPr>
        <p:spPr>
          <a:xfrm>
            <a:off x="6217920" y="1691640"/>
            <a:ext cx="5120640" cy="3429000"/>
          </a:xfrm>
          <a:prstGeom prst="roundRect">
            <a:avLst>
              <a:gd name="adj" fmla="val 3200"/>
            </a:avLst>
          </a:prstGeom>
          <a:solidFill>
            <a:srgbClr val="0E4A57"/>
          </a:solidFill>
          <a:ln w="12700">
            <a:solidFill>
              <a:srgbClr val="0E4A57"/>
            </a:solidFill>
            <a:prstDash val="solid"/>
          </a:ln>
        </p:spPr>
      </p:sp>
      <p:sp>
        <p:nvSpPr>
          <p:cNvPr id="7" name="Text 5"/>
          <p:cNvSpPr txBox="1"/>
          <p:nvPr/>
        </p:nvSpPr>
        <p:spPr>
          <a:xfrm>
            <a:off x="6537960" y="1874520"/>
            <a:ext cx="4480560" cy="457200"/>
          </a:xfrm>
          <a:prstGeom prst="rect">
            <a:avLst/>
          </a:prstGeom>
          <a:noFill/>
          <a:ln/>
        </p:spPr>
        <p:txBody>
          <a:bodyPr wrap="square" lIns="0" tIns="0" rIns="0" bIns="0" rtlCol="0" anchor="ctr"/>
          <a:lstStyle/>
          <a:p>
            <a:pPr indent="0" marL="0">
              <a:buNone/>
            </a:pPr>
            <a:r>
              <a:rPr lang="en-US" sz="2400" b="1" dirty="0">
                <a:solidFill>
                  <a:srgbClr val="7FD1C7"/>
                </a:solidFill>
              </a:rPr>
              <a:t>Next</a:t>
            </a:r>
            <a:endParaRPr lang="en-US" sz="2400" dirty="0"/>
          </a:p>
        </p:txBody>
      </p:sp>
      <p:sp>
        <p:nvSpPr>
          <p:cNvPr id="8" name="Text 6"/>
          <p:cNvSpPr txBox="1"/>
          <p:nvPr/>
        </p:nvSpPr>
        <p:spPr>
          <a:xfrm>
            <a:off x="6537960" y="2514600"/>
            <a:ext cx="4526280" cy="26517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FFFFFF"/>
                </a:solidFill>
              </a:rPr>
              <a:t>A Synapt ticket-store provider for tabular claims at scale</a:t>
            </a:r>
            <a:endParaRPr lang="en-US" sz="1600" dirty="0"/>
          </a:p>
          <a:p>
            <a:pPr marL="342900" indent="-342900">
              <a:spcAft>
                <a:spcPts val="1000"/>
              </a:spcAft>
              <a:buSzPct val="100000"/>
              <a:buChar char="•"/>
            </a:pPr>
            <a:r>
              <a:rPr lang="en-US" sz="1600" dirty="0">
                <a:solidFill>
                  <a:srgbClr val="FFFFFF"/>
                </a:solidFill>
              </a:rPr>
              <a:t>A larger card corpus, with precision re-measured</a:t>
            </a:r>
            <a:endParaRPr lang="en-US" sz="1600" dirty="0"/>
          </a:p>
          <a:p>
            <a:pPr marL="342900" indent="-342900">
              <a:spcAft>
                <a:spcPts val="1000"/>
              </a:spcAft>
              <a:buSzPct val="100000"/>
              <a:buChar char="•"/>
            </a:pPr>
            <a:r>
              <a:rPr lang="en-US" sz="1600" dirty="0">
                <a:solidFill>
                  <a:srgbClr val="FFFFFF"/>
                </a:solidFill>
              </a:rPr>
              <a:t>DeepEval over real handler runs, not only golden cases</a:t>
            </a:r>
            <a:endParaRPr lang="en-US" sz="1600" dirty="0"/>
          </a:p>
          <a:p>
            <a:pPr marL="342900" indent="-342900">
              <a:spcAft>
                <a:spcPts val="1000"/>
              </a:spcAft>
              <a:buSzPct val="100000"/>
              <a:buChar char="•"/>
            </a:pPr>
            <a:r>
              <a:rPr lang="en-US" sz="1600" dirty="0">
                <a:solidFill>
                  <a:srgbClr val="FFFFFF"/>
                </a:solidFill>
              </a:rPr>
              <a:t>Single sign-on, MFA and multi-tenant isolation</a:t>
            </a:r>
            <a:endParaRPr lang="en-US" sz="1600" dirty="0"/>
          </a:p>
        </p:txBody>
      </p:sp>
      <p:sp>
        <p:nvSpPr>
          <p:cNvPr id="9" name="Text 7"/>
          <p:cNvSpPr txBox="1"/>
          <p:nvPr/>
        </p:nvSpPr>
        <p:spPr>
          <a:xfrm>
            <a:off x="731520" y="5669280"/>
            <a:ext cx="10698480" cy="548640"/>
          </a:xfrm>
          <a:prstGeom prst="rect">
            <a:avLst/>
          </a:prstGeom>
          <a:noFill/>
          <a:ln/>
        </p:spPr>
        <p:txBody>
          <a:bodyPr wrap="square" lIns="0" tIns="0" rIns="0" bIns="0" rtlCol="0" anchor="ctr"/>
          <a:lstStyle/>
          <a:p>
            <a:pPr indent="0" marL="0">
              <a:buNone/>
            </a:pPr>
            <a:r>
              <a:rPr lang="en-US" sz="2800" i="1" dirty="0">
                <a:solidFill>
                  <a:srgbClr val="F2A93B"/>
                </a:solidFill>
                <a:latin typeface="Cambria" pitchFamily="34" charset="0"/>
                <a:ea typeface="Cambria" pitchFamily="34" charset="-122"/>
                <a:cs typeface="Cambria" pitchFamily="34" charset="-120"/>
              </a:rPr>
              <a:t>Evidence informs. A person decides.</a:t>
            </a:r>
            <a:endParaRPr lang="en-US" sz="2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3BA"/>
                </a:solidFil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Claims Panel">
  <a:themeElements>
    <a:clrScheme name="Claims Panel">
      <a:dk1>
        <a:srgbClr val="0B2530"/>
      </a:dk1>
      <a:lt1>
        <a:srgbClr val="FFFFFF"/>
      </a:lt1>
      <a:dk2>
        <a:srgbClr val="0E4A57"/>
      </a:dk2>
      <a:lt2>
        <a:srgbClr val="E6F4F1"/>
      </a:lt2>
      <a:accent1>
        <a:srgbClr val="0E7C86"/>
      </a:accent1>
      <a:accent2>
        <a:srgbClr val="F2A93B"/>
      </a:accent2>
      <a:accent3>
        <a:srgbClr val="D9534F"/>
      </a:accent3>
      <a:accent4>
        <a:srgbClr val="3E6D8F"/>
      </a:accent4>
      <a:accent5>
        <a:srgbClr val="3A8F5C"/>
      </a:accent5>
      <a:accent6>
        <a:srgbClr val="6D5BA8"/>
      </a:accent6>
      <a:hlink>
        <a:srgbClr val="0E7C86"/>
      </a:hlink>
      <a:folHlink>
        <a:srgbClr val="6D5BA8"/>
      </a:folHlink>
    </a:clrScheme>
    <a:fontScheme name="Claims Pan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Insurance Claims Assistant: panel presentation</dc:title>
  <dc:subject>PptxGenJS Presentation</dc:subject>
  <dc:creator>Sai Chaithanya Reddy Yedururi</dc:creator>
  <cp:lastModifiedBy>Sai Chaithanya Reddy Yedururi</cp:lastModifiedBy>
  <cp:revision>1</cp:revision>
  <dcterms:created xsi:type="dcterms:W3CDTF">2026-10-06T17:45:40Z</dcterms:created>
  <dcterms:modified xsi:type="dcterms:W3CDTF">2026-10-06T17:45:40Z</dcterms:modified>
</cp:coreProperties>
</file>